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02552" cy="685800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9456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39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79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6868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173736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606039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347472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434340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5212079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080759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731520"/>
            <a:ext cx="3840480" cy="329184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786384"/>
            <a:ext cx="3749039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B703"/>
                </a:solidFill>
                <a:latin typeface="Calibri"/>
              </a:rPr>
              <a:t>END-TO-END SUPPLY CHAIN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188720"/>
            <a:ext cx="5669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800" b="1" i="0">
                <a:solidFill>
                  <a:srgbClr val="0F141C"/>
                </a:solidFill>
                <a:latin typeface="Calibri"/>
              </a:rPr>
              <a:t>BEER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834640"/>
            <a:ext cx="53035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880360"/>
            <a:ext cx="5669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9160"/>
            <a:ext cx="53949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Logistics Development · Demand Forecasting · EOQ Inventory · Cold Chain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53035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1">
                <a:solidFill>
                  <a:srgbClr val="2D2510"/>
                </a:solidFill>
                <a:latin typeface="Calibri"/>
              </a:rPr>
              <a:t>A data-driven operational study modelled on real FMCG beverage distribution networks across India.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2,000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7400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1,000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Routes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265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Fleet Units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59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59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59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Mega-Hubs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731520"/>
            <a:ext cx="4572000" cy="5303520"/>
          </a:xfrm>
          <a:prstGeom prst="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0" y="731520"/>
            <a:ext cx="4572000" cy="10972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823960" y="1143000"/>
            <a:ext cx="1188720" cy="1188720"/>
          </a:xfrm>
          <a:prstGeom prst="ellipse">
            <a:avLst/>
          </a:prstGeom>
          <a:solidFill>
            <a:srgbClr val="0F141C"/>
          </a:solidFill>
          <a:ln w="381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1444752"/>
            <a:ext cx="11887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2600" b="1" i="0">
                <a:solidFill>
                  <a:srgbClr val="FFB703"/>
                </a:solidFill>
                <a:latin typeface="Calibri"/>
              </a:rPr>
              <a:t>HP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2468880"/>
            <a:ext cx="43891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0F141C"/>
                </a:solidFill>
                <a:latin typeface="Calibri"/>
              </a:rPr>
              <a:t>HARSH RAJ PANDEY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2880360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b="1" i="0">
                <a:solidFill>
                  <a:srgbClr val="415A77"/>
                </a:solidFill>
                <a:latin typeface="Calibri"/>
              </a:rPr>
              <a:t>Supply Chain &amp; Logistics Operations Analyst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3154680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 b="0" i="1">
                <a:solidFill>
                  <a:srgbClr val="FB8500"/>
                </a:solidFill>
                <a:latin typeface="Calibri"/>
              </a:rPr>
              <a:t>Target: AB InBev Supply Chain / Logistics Development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0" y="3520440"/>
            <a:ext cx="347472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06640" y="3749039"/>
            <a:ext cx="109728" cy="4114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35240" y="3703320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Logistics Network 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3904487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Route optimization, TMS load pooling, freight benchmarking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06640" y="4407407"/>
            <a:ext cx="109728" cy="4114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5240" y="4361688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Quantitative Inventory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4562855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EOQ calculation, dynamic safety stock, stockout risk mitigation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06640" y="5065776"/>
            <a:ext cx="109728" cy="4114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35240" y="5020056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Operational Toolset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35240" y="5221224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Advanced Python (Pandas/NumPy), MS Excel (6-Sheet Deep-Dive), Executive 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0" y="5669280"/>
            <a:ext cx="4572000" cy="3657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0" y="5742432"/>
            <a:ext cx="4572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FDF0D5"/>
                </a:solidFill>
                <a:latin typeface="Calibri"/>
              </a:rPr>
              <a:t>GitHub: Harsh258-collab   ·   LinkedIn: harsh-raj-pandey   ·   Sept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SUPPLY CHAIN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The Logistics Highway: 72 Hours from Grain Silo to Chilled Mug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A continuous, temperature-tracked physical pipeline connecting raw sourcing to consumer touchpoint.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1064240" cy="41148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11064240" cy="41148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064240" y="2468880"/>
            <a:ext cx="548640" cy="2606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630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945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45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233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233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548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48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206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494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494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6809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124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7782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7782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097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755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755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2412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2412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6070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070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320272" y="2651760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320272" y="3017520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320272" y="3383279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320272" y="3749039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320272" y="4114800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320272" y="4480559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31520" y="1554480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1520" y="1554480"/>
            <a:ext cx="594360" cy="86868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1664207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1993391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17320" y="1627632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RAW SOURCING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7320" y="184708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Punjab / Rajasthan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17320" y="2084831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44752" y="212140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FB8500"/>
                </a:solidFill>
                <a:latin typeface="Calibri"/>
              </a:rPr>
              <a:t>Lead Time: 4.2d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023360" y="1554480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023360" y="1554480"/>
            <a:ext cx="594360" cy="868680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0" y="1664207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23360" y="1993391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🏭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09160" y="1627632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BREWERY &amp; PACK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09160" y="184708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Fermentation &amp; Canning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709160" y="2084831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36592" y="212140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  <a:latin typeface="Calibri"/>
              </a:rPr>
              <a:t>Cap: 24K Cases/d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315200" y="1554480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315200" y="1554480"/>
            <a:ext cx="594360" cy="86868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15200" y="1664207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15200" y="1993391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1627632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MOTHER HUB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184708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WH-DEL-01 (Automated)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001000" y="2084831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028431" y="212140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118AB2"/>
                </a:solidFill>
                <a:latin typeface="Calibri"/>
              </a:rPr>
              <a:t>Space Util: 88%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595360" y="3749039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595360" y="3749039"/>
            <a:ext cx="594360" cy="86868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95360" y="3858768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95360" y="4187952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🚆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81160" y="382219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LONG-HAUL FREIGHT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81160" y="404164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32-ft Truck &amp; Bulk Rail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81160" y="4279392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308592" y="431596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06D6A0"/>
                </a:solidFill>
                <a:latin typeface="Calibri"/>
              </a:rPr>
              <a:t>Rail Cost: -44%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754880" y="3749039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754880" y="3749039"/>
            <a:ext cx="594360" cy="86868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3858768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54880" y="4187952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🚛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40680" y="382219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CITY REEFER FLEET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0680" y="404164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Tata Ace / 14-ft Trucks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440680" y="4279392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68112" y="431596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EF476F"/>
                </a:solidFill>
                <a:latin typeface="Calibri"/>
              </a:rPr>
              <a:t>Util Target: 85%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3749039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914400" y="3749039"/>
            <a:ext cx="594360" cy="868680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14400" y="3858768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4400" y="4187952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🍺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00200" y="382219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COLD TAPROOM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00200" y="404164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On-Shelf &amp; Bar Delivery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00200" y="4279392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627632" y="431596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  <a:latin typeface="Calibri"/>
              </a:rPr>
              <a:t>Target: &lt;4°C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560320" y="2395728"/>
            <a:ext cx="8229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F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383280" y="2450592"/>
            <a:ext cx="274320" cy="219456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743200" y="2670048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200400" y="2670048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520440" y="2670048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578608" y="2423160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550" b="1" i="0">
                <a:solidFill>
                  <a:srgbClr val="0F141C"/>
                </a:solidFill>
                <a:latin typeface="Calibri"/>
              </a:rPr>
              <a:t>32-FT FREIGHT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108960" y="4590288"/>
            <a:ext cx="685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F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834640" y="4645152"/>
            <a:ext cx="274320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926080" y="4846320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474720" y="4846320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127248" y="4626864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550" b="1" i="0">
                <a:solidFill>
                  <a:srgbClr val="0F141C"/>
                </a:solidFill>
                <a:latin typeface="Calibri"/>
              </a:rPr>
              <a:t>REEFER 14FT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31520" y="5486400"/>
            <a:ext cx="137160" cy="82296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05840" y="5559552"/>
            <a:ext cx="1024128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FB703"/>
                </a:solidFill>
                <a:latin typeface="Calibri"/>
              </a:rPr>
              <a:t>CRITICAL SUPPLY CHAIN BOTTLENECKS REVEALED IN 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05840" y="5779008"/>
            <a:ext cx="1024128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Calibri"/>
              </a:rPr>
              <a:t>• Sourcing to Mother Hub: Lead times swing from 3.2 days (North) to 6.8 days (East India) due to rail bottlenecks.
• Last-Mile City Fleet: 28% of vehicle capacity runs empty per trip due to order fragmentation rather than load pooling.
• Retail Handover: 18% of all cold chain breaches occur at the final retail delivery drop.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Calibri"/>
              </a:rPr>
              <a:t>03 / 14</a:t>
            </a:r>
          </a:p>
        </p:txBody>
      </p:sp>
      <p:sp>
        <p:nvSpPr>
          <p:cNvPr id="3" name="Oval 2"/>
          <p:cNvSpPr/>
          <p:nvPr/>
        </p:nvSpPr>
        <p:spPr>
          <a:xfrm>
            <a:off x="2286000" y="182880"/>
            <a:ext cx="7589520" cy="6400800"/>
          </a:xfrm>
          <a:prstGeom prst="ellipse">
            <a:avLst/>
          </a:prstGeom>
          <a:solidFill>
            <a:srgbClr val="28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0" y="1097280"/>
            <a:ext cx="4572000" cy="4572000"/>
          </a:xfrm>
          <a:prstGeom prst="ellipse">
            <a:avLst/>
          </a:prstGeom>
          <a:solidFill>
            <a:srgbClr val="422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365760"/>
            <a:ext cx="4114800" cy="27432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411480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0F141C"/>
                </a:solidFill>
                <a:latin typeface="Calibri"/>
              </a:rPr>
              <a:t>THE ULTIMATE SUPPLY CHAIN OUTCOME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2286000"/>
            <a:ext cx="1737360" cy="3108960"/>
          </a:xfrm>
          <a:prstGeom prst="roundRect">
            <a:avLst/>
          </a:prstGeom>
          <a:solidFill>
            <a:srgbClr val="BC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2377440"/>
            <a:ext cx="1554480" cy="2834640"/>
          </a:xfrm>
          <a:prstGeom prst="roundRect">
            <a:avLst/>
          </a:prstGeom>
          <a:solidFill>
            <a:srgbClr val="E5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11880" y="2377440"/>
            <a:ext cx="201168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9080" y="2377440"/>
            <a:ext cx="164592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2743200"/>
            <a:ext cx="594360" cy="1828800"/>
          </a:xfrm>
          <a:prstGeom prst="roundRect">
            <a:avLst/>
          </a:prstGeom>
          <a:noFill/>
          <a:ln w="762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54680" y="1874520"/>
            <a:ext cx="2011680" cy="685800"/>
          </a:xfrm>
          <a:prstGeom prst="ellipse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83280" y="17830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6200" y="1719072"/>
            <a:ext cx="73152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34840" y="1810512"/>
            <a:ext cx="64008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49039" y="2377440"/>
            <a:ext cx="2286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331720"/>
            <a:ext cx="182880" cy="5486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2286000"/>
            <a:ext cx="1737360" cy="3108960"/>
          </a:xfrm>
          <a:prstGeom prst="roundRect">
            <a:avLst/>
          </a:prstGeom>
          <a:solidFill>
            <a:srgbClr val="BC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59" y="2377440"/>
            <a:ext cx="1554480" cy="2834640"/>
          </a:xfrm>
          <a:prstGeom prst="roundRect">
            <a:avLst/>
          </a:prstGeom>
          <a:solidFill>
            <a:srgbClr val="E5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9560" y="2377440"/>
            <a:ext cx="201168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60" y="2377440"/>
            <a:ext cx="164592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78240" y="2743200"/>
            <a:ext cx="594360" cy="1828800"/>
          </a:xfrm>
          <a:prstGeom prst="roundRect">
            <a:avLst/>
          </a:prstGeom>
          <a:noFill/>
          <a:ln w="762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95159" y="1874520"/>
            <a:ext cx="2011680" cy="685800"/>
          </a:xfrm>
          <a:prstGeom prst="ellipse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78040" y="1810512"/>
            <a:ext cx="64008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35240" y="1719072"/>
            <a:ext cx="73152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9600" y="17830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52360" y="2331720"/>
            <a:ext cx="182880" cy="6400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8160" y="2377440"/>
            <a:ext cx="201168" cy="4572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6037" y="2802661"/>
            <a:ext cx="80012" cy="9601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22040" y="2814663"/>
            <a:ext cx="28004" cy="28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35155" y="4494116"/>
            <a:ext cx="116741" cy="140089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58504" y="4511627"/>
            <a:ext cx="40859" cy="408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52713" y="2949891"/>
            <a:ext cx="93444" cy="11213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71402" y="2963908"/>
            <a:ext cx="32705" cy="3270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69869" y="3262998"/>
            <a:ext cx="101073" cy="12128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490084" y="3278159"/>
            <a:ext cx="35375" cy="35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465396" y="3215924"/>
            <a:ext cx="114289" cy="13714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88254" y="3233067"/>
            <a:ext cx="40001" cy="400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76441" y="3267284"/>
            <a:ext cx="108746" cy="13049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98191" y="3283596"/>
            <a:ext cx="38061" cy="3806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39214" y="2758650"/>
            <a:ext cx="128548" cy="15425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64924" y="2777932"/>
            <a:ext cx="44991" cy="449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6567" y="3552125"/>
            <a:ext cx="69081" cy="8289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00384" y="3562487"/>
            <a:ext cx="24178" cy="241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41913" y="3543433"/>
            <a:ext cx="63344" cy="7601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54582" y="3552935"/>
            <a:ext cx="22170" cy="221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61656" y="4758067"/>
            <a:ext cx="110068" cy="13208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583669" y="4774577"/>
            <a:ext cx="38524" cy="385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36057" y="4478093"/>
            <a:ext cx="103896" cy="12467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56836" y="4493678"/>
            <a:ext cx="36363" cy="3636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63725" y="3643142"/>
            <a:ext cx="105342" cy="12641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84794" y="3658944"/>
            <a:ext cx="36869" cy="3686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66611" y="4213693"/>
            <a:ext cx="133658" cy="16039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3343" y="4233742"/>
            <a:ext cx="46780" cy="467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0896" y="4418277"/>
            <a:ext cx="59054" cy="7086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32707" y="4427135"/>
            <a:ext cx="20668" cy="206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41585" y="3431202"/>
            <a:ext cx="62160" cy="7459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754017" y="3440526"/>
            <a:ext cx="21756" cy="217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748295" y="2983324"/>
            <a:ext cx="80281" cy="9633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764352" y="2995367"/>
            <a:ext cx="28098" cy="280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300904" y="3610566"/>
            <a:ext cx="88713" cy="10645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318647" y="3623873"/>
            <a:ext cx="31049" cy="3104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16359" y="3377923"/>
            <a:ext cx="140511" cy="16861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744462" y="3399000"/>
            <a:ext cx="49179" cy="491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317845" y="4191372"/>
            <a:ext cx="70512" cy="8461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31947" y="4201949"/>
            <a:ext cx="24679" cy="246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429070" y="3131679"/>
            <a:ext cx="89561" cy="10747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446982" y="3145113"/>
            <a:ext cx="31346" cy="3134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86230" y="4264761"/>
            <a:ext cx="105791" cy="126949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07388" y="4280629"/>
            <a:ext cx="37027" cy="370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68016" y="4747029"/>
            <a:ext cx="125821" cy="15098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393181" y="4765903"/>
            <a:ext cx="44037" cy="440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743162" y="2819516"/>
            <a:ext cx="83709" cy="10045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759904" y="2832072"/>
            <a:ext cx="29298" cy="292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796233" y="3244799"/>
            <a:ext cx="141083" cy="16930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24450" y="3265961"/>
            <a:ext cx="49379" cy="493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631025" y="3491327"/>
            <a:ext cx="114797" cy="13775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653985" y="3508547"/>
            <a:ext cx="40179" cy="401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971648" y="4917482"/>
            <a:ext cx="96821" cy="11618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991012" y="4932005"/>
            <a:ext cx="33887" cy="3388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792309" y="3329542"/>
            <a:ext cx="106195" cy="12743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13548" y="3345471"/>
            <a:ext cx="37168" cy="37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789376" y="4133018"/>
            <a:ext cx="136960" cy="16435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816768" y="4153562"/>
            <a:ext cx="47936" cy="479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657600" y="3328087"/>
            <a:ext cx="45720" cy="537418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39312" y="3847217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657600" y="3865505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160520" y="3656249"/>
            <a:ext cx="45720" cy="643564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142232" y="4281525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60520" y="4299813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572000" y="3158836"/>
            <a:ext cx="45720" cy="474433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553712" y="3614981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72000" y="3633269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874" y="4234915"/>
            <a:ext cx="127291" cy="15275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445333" y="4254009"/>
            <a:ext cx="44552" cy="445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848514" y="2894233"/>
            <a:ext cx="89759" cy="10771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866466" y="2907697"/>
            <a:ext cx="31415" cy="3141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635760" y="4001137"/>
            <a:ext cx="143659" cy="17239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664491" y="4022686"/>
            <a:ext cx="50280" cy="50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450125" y="2770495"/>
            <a:ext cx="120766" cy="14492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474278" y="2788610"/>
            <a:ext cx="42268" cy="422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204513" y="4019814"/>
            <a:ext cx="79262" cy="9511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220366" y="4031704"/>
            <a:ext cx="27741" cy="2774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48623" y="3008408"/>
            <a:ext cx="94618" cy="11354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67546" y="3022601"/>
            <a:ext cx="33116" cy="331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891807" y="5010840"/>
            <a:ext cx="134951" cy="16194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918797" y="5031082"/>
            <a:ext cx="47233" cy="472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30744" y="3933313"/>
            <a:ext cx="71199" cy="85439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644984" y="3943993"/>
            <a:ext cx="24919" cy="249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521240" y="4812805"/>
            <a:ext cx="82153" cy="9858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537671" y="4825128"/>
            <a:ext cx="28753" cy="2875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145863" y="4190990"/>
            <a:ext cx="68839" cy="8260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59631" y="4201316"/>
            <a:ext cx="24093" cy="240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315339" y="4025541"/>
            <a:ext cx="126061" cy="15127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40552" y="4044450"/>
            <a:ext cx="44121" cy="4412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96913" y="2744559"/>
            <a:ext cx="84504" cy="10140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013814" y="2757235"/>
            <a:ext cx="29576" cy="29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6194" y="4952076"/>
            <a:ext cx="135214" cy="16225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323237" y="4972358"/>
            <a:ext cx="47325" cy="473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410192" y="3474296"/>
            <a:ext cx="60160" cy="7219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422224" y="3483320"/>
            <a:ext cx="21056" cy="21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473757" y="4994515"/>
            <a:ext cx="62696" cy="7523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486297" y="5003919"/>
            <a:ext cx="21943" cy="2194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36064" y="2907748"/>
            <a:ext cx="124413" cy="149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960947" y="2926410"/>
            <a:ext cx="43544" cy="435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319898" y="3048443"/>
            <a:ext cx="98323" cy="11798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339563" y="3063191"/>
            <a:ext cx="34413" cy="344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023590" y="3373356"/>
            <a:ext cx="134639" cy="16156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50518" y="3393552"/>
            <a:ext cx="47123" cy="471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849855" y="3246737"/>
            <a:ext cx="104177" cy="12501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870691" y="3262364"/>
            <a:ext cx="36462" cy="364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270653" y="3221424"/>
            <a:ext cx="83367" cy="10004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287326" y="3233929"/>
            <a:ext cx="29178" cy="291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634426" y="4288246"/>
            <a:ext cx="94923" cy="11390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653411" y="4302484"/>
            <a:ext cx="33223" cy="332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79387" y="3030880"/>
            <a:ext cx="75410" cy="9049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994469" y="3042191"/>
            <a:ext cx="26393" cy="263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33198" y="4141868"/>
            <a:ext cx="75905" cy="9108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48379" y="4153254"/>
            <a:ext cx="26566" cy="2656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571530" y="2911981"/>
            <a:ext cx="112572" cy="13508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594044" y="2928867"/>
            <a:ext cx="39400" cy="39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583496" y="4895781"/>
            <a:ext cx="133469" cy="16016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610190" y="4915802"/>
            <a:ext cx="46714" cy="4671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366667" y="3309041"/>
            <a:ext cx="116035" cy="13924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389875" y="3326447"/>
            <a:ext cx="40612" cy="406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563327" y="3057763"/>
            <a:ext cx="140407" cy="16848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591408" y="3078824"/>
            <a:ext cx="49142" cy="491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052722" y="3866947"/>
            <a:ext cx="126609" cy="15193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078044" y="3885938"/>
            <a:ext cx="44313" cy="443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7498079" y="3551985"/>
            <a:ext cx="45720" cy="526844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7479792" y="4060541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498079" y="4078829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8001000" y="3162140"/>
            <a:ext cx="45720" cy="614861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982712" y="3758713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001000" y="3777001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412480" y="3341352"/>
            <a:ext cx="45720" cy="628018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394192" y="3951083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412480" y="3969371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303520" y="1371600"/>
            <a:ext cx="1554480" cy="1554480"/>
          </a:xfrm>
          <a:prstGeom prst="ellipse">
            <a:avLst/>
          </a:prstGeom>
          <a:noFill/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577840" y="1645920"/>
            <a:ext cx="1005840" cy="1005840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099048" y="1097280"/>
            <a:ext cx="201168" cy="201168"/>
          </a:xfrm>
          <a:prstGeom prst="ellipse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139281" y="1127455"/>
            <a:ext cx="60350" cy="60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760720" y="914400"/>
            <a:ext cx="146304" cy="146304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789980" y="936345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6492240" y="822960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525158" y="847648"/>
            <a:ext cx="49377" cy="493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486400" y="137160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508345" y="1388059"/>
            <a:ext cx="32918" cy="3291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766560" y="128016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792163" y="1299362"/>
            <a:ext cx="38404" cy="384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099048" y="640080"/>
            <a:ext cx="164592" cy="164592"/>
          </a:xfrm>
          <a:prstGeom prst="ellipse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131966" y="664768"/>
            <a:ext cx="49377" cy="493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212080" y="731520"/>
            <a:ext cx="91440" cy="91440"/>
          </a:xfrm>
          <a:prstGeom prst="ellipse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230368" y="745236"/>
            <a:ext cx="27432" cy="27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6949440" y="640080"/>
            <a:ext cx="109728" cy="109728"/>
          </a:xfrm>
          <a:prstGeom prst="ellipse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971385" y="656539"/>
            <a:ext cx="32918" cy="3291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5852160" y="457200"/>
            <a:ext cx="128016" cy="128016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5877763" y="476402"/>
            <a:ext cx="38404" cy="384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309360" y="502920"/>
            <a:ext cx="100584" cy="1005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329476" y="518007"/>
            <a:ext cx="30175" cy="301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6099048" y="1828800"/>
            <a:ext cx="256032" cy="256032"/>
          </a:xfrm>
          <a:prstGeom prst="ellipse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6150254" y="1867204"/>
            <a:ext cx="76809" cy="768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743200" y="5257800"/>
            <a:ext cx="6702552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6400" b="1" i="0">
                <a:solidFill>
                  <a:srgbClr val="FFB703"/>
                </a:solidFill>
                <a:latin typeface="Calibri"/>
              </a:rPr>
              <a:t>CHEERS!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828800" y="5989320"/>
            <a:ext cx="8531352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DELIVERED COLD. EXACTLY ON TIME.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828800" y="6327648"/>
            <a:ext cx="8531352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FDF0D5"/>
                </a:solidFill>
                <a:latin typeface="Calibri"/>
              </a:rPr>
              <a:t>Every algorithm, EOQ formula, and route consolidation model exists for this exact moment.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THE 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The Bullwhip Paradox: Why Beverage Supply Chains Break at Peak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Traditional static planning models create stockouts during summer &amp; festivals, and excess inventory in monsoons.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109728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9144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200" b="1" i="0">
                <a:solidFill>
                  <a:srgbClr val="EF476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SEASONAL DEMAND AMPLIFICATION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3017520" cy="1920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1B263B"/>
                </a:solidFill>
                <a:latin typeface="Calibri"/>
              </a:rPr>
              <a:t>Demand swings up to +70% in Q4 (Diwali/New Year) and +45% in summer.
Because replenishment lead times are static (3–6 days), breweries under-produce before the spike, leading to critical stockouts during the highest-revenue weeks of the year.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38928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EF476F"/>
                </a:solidFill>
                <a:latin typeface="Calibri"/>
              </a:rPr>
              <a:t>Estimated Lost Sales: ~INR 42L/yr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645920"/>
            <a:ext cx="3474720" cy="109728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874519"/>
            <a:ext cx="9144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200" b="1" i="0">
                <a:solidFill>
                  <a:srgbClr val="FB850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42316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FRAGMENTED LAST-MILE LOGISTICS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71800"/>
            <a:ext cx="3017520" cy="1920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1B263B"/>
                </a:solidFill>
                <a:latin typeface="Calibri"/>
              </a:rPr>
              <a:t>Vehicles run at an average of 72% load capacity — wasting 28% of freight spend.
Orders are dispatched as they arrive rather than batched into density-optimized routes, forcing expensive mini-truck runs when 32-ft consolidated trips are feasible.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5029200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5138928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B8500"/>
                </a:solidFill>
                <a:latin typeface="Calibri"/>
              </a:rPr>
              <a:t>Freight Inefficiency: 28% Capacity Lost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80" y="1645920"/>
            <a:ext cx="3474720" cy="109728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1874519"/>
            <a:ext cx="9144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200" b="1" i="0">
                <a:solidFill>
                  <a:srgbClr val="118AB2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42316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COLD CHAIN COMPLIANCE BREAKDOWN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971800"/>
            <a:ext cx="3017520" cy="1920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1B263B"/>
                </a:solidFill>
                <a:latin typeface="Calibri"/>
              </a:rPr>
              <a:t>18% of all shipments record temperature violations above the 8°C ceiling.
While brewery and primary warehouse transit maintain strict chill, temperature breaches spike to 30%+ at the retail outlet delivery interface.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5029200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5138928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118AB2"/>
                </a:solidFill>
                <a:latin typeface="Calibri"/>
              </a:rPr>
              <a:t>Quality Risk: 18% Breached Shipments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06440"/>
            <a:ext cx="1069848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FB703"/>
                </a:solidFill>
                <a:latin typeface="Calibri"/>
              </a:rPr>
              <a:t>EXECUTIVE HYPOTHESIS: Aligning dynamic EOQ buffer stocks with multi-modal freight can elevate OTIF from 78% to 92% while unlocking INR 55–80 Lakhs in annual cost recovery.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Simulation Scope: 2-Year Multi-Echelon Supply Chain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Synthesized across 10 structured tables capturing order-level, fleet-level, and facility-level transactions.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73152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FB8500"/>
                </a:solidFill>
                <a:latin typeface="Calibri"/>
              </a:rPr>
              <a:t>2,000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Orders Analyzed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SKU, Region, Warehouse, Lead Time, OTIF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645920"/>
            <a:ext cx="3474720" cy="73152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78308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FFB703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42316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Delivery 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Vehicle utilization, fuel, tolls, stop density, delay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4592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0" y="1645920"/>
            <a:ext cx="3474720" cy="73152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78308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118AB2"/>
                </a:solidFill>
                <a:latin typeface="Calibri"/>
              </a:rPr>
              <a:t>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2316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Fleet Vehicles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32-ft, 20-ft, Mini Trucks, Tata Ace, Tempos with CO2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3794760"/>
            <a:ext cx="3474720" cy="73152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93192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EF476F"/>
                </a:solidFill>
                <a:latin typeface="Calibri"/>
              </a:rPr>
              <a:t>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Cold Chain Logs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9204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5 supply chain stages, IoT temperature readings, breach durations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79476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43400" y="3794760"/>
            <a:ext cx="3474720" cy="73152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93192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06D6A0"/>
                </a:solidFill>
                <a:latin typeface="Calibri"/>
              </a:rPr>
              <a:t>400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57200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Freight Runs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89204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Direct comparison: Road vs Rail vs Air vs 3PL partners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379476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5280" y="3794760"/>
            <a:ext cx="3474720" cy="73152"/>
          </a:xfrm>
          <a:prstGeom prst="round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393192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1B263B"/>
                </a:solidFill>
                <a:latin typeface="Calibri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57200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Risk Register Items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489204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Categorized by Likelihood × Impact with mitigation owners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6035040"/>
            <a:ext cx="10698480" cy="41148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6126480"/>
            <a:ext cx="103327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0F141C"/>
                </a:solidFill>
                <a:latin typeface="Calibri"/>
              </a:rPr>
              <a:t>Tooling Ecosystem: Python (Pandas/NumPy) for Monte Carlo generation · MS Excel (OpenPyXL) with 8 analytical sheets · PowerPoint (python-pptx)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DEMAND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Demand Forecasting: Seasonal Swings &amp; SKU-Level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Evaluating 24 months of historical demand against forecast accuracy (MAPE) across 7 beer product 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06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48640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029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Forecast Accuracy by SKU (Mean Absolute % Error)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1">
                <a:solidFill>
                  <a:srgbClr val="415A77"/>
                </a:solidFill>
                <a:latin typeface="Calibri"/>
              </a:rPr>
              <a:t>Target Benchmark: MAPE &lt; 10% (Lower is better)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Light Beer 330ml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4140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17520" y="2414016"/>
            <a:ext cx="348203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1443" y="2395728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Stout 650ml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8712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17520" y="2871216"/>
            <a:ext cx="348203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1443" y="2852928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918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Wheat 330ml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3284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17520" y="3328416"/>
            <a:ext cx="348203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1443" y="3310128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749039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Premium Lager 330ml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785615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17520" y="3785615"/>
            <a:ext cx="358444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21684" y="37673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062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IPA 330ml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42428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7520" y="4242816"/>
            <a:ext cx="399409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2649" y="42245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6634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Lager 500ml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47000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17520" y="4700016"/>
            <a:ext cx="481340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4580" y="46817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4.7%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206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Strong Beer 500ml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51572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17520" y="5157216"/>
            <a:ext cx="491581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4821" y="51389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4.8%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1645920"/>
            <a:ext cx="493776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178308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Seasonal Demand Multipliers vs Operational Reality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2240280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675120" y="2240280"/>
            <a:ext cx="91440" cy="73152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231343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OCT - DEC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2532888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EF476F"/>
                </a:solidFill>
                <a:latin typeface="Calibri"/>
              </a:rPr>
              <a:t>+30% to +70%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2313432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EF476F"/>
                </a:solidFill>
                <a:latin typeface="Calibri"/>
              </a:rPr>
              <a:t>FESTIVAL SURGE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2514600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Diwali, Christmas, New Year. High stockout risk for Premium Lager &amp; Wheat Beer.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3081528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75120" y="3081528"/>
            <a:ext cx="91440" cy="73152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3154680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MAR - APR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374136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FB8500"/>
                </a:solidFill>
                <a:latin typeface="Calibri"/>
              </a:rPr>
              <a:t>+20% to +45%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3154680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FB8500"/>
                </a:solidFill>
                <a:latin typeface="Calibri"/>
              </a:rPr>
              <a:t>SUMMER ONSET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3355848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IPL Season &amp; early heatwaves. Strong Beer volume accelerates by 50K+ cases.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75120" y="3922776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675120" y="3922776"/>
            <a:ext cx="91440" cy="73152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0" y="3995928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JUL - AUG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215384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18AB2"/>
                </a:solidFill>
                <a:latin typeface="Calibri"/>
              </a:rPr>
              <a:t>-15% to -40%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3995928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118AB2"/>
                </a:solidFill>
                <a:latin typeface="Calibri"/>
              </a:rPr>
              <a:t>MONSOON TROUGH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4197096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Heavy rain suppresses on-premise consumption. Danger of inventory expiration.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75120" y="4764024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0" y="4764024"/>
            <a:ext cx="91440" cy="73152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0" y="4837176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ANNUAL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5056632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  <a:latin typeface="Calibri"/>
              </a:rPr>
              <a:t>+3.0% CAGR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4837176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06D6A0"/>
                </a:solidFill>
                <a:latin typeface="Calibri"/>
              </a:rPr>
              <a:t>ORGANIC GROWTH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5038344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Baseline consumption growth driven by craft beer adoption in Tier-1 cities.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1520" y="5897880"/>
            <a:ext cx="10698480" cy="50292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6016752"/>
            <a:ext cx="10332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FB703"/>
                </a:solidFill>
                <a:latin typeface="Calibri"/>
              </a:rPr>
              <a:t>KEY ACTION: Shift from static monthly replenishment to a 3-week rolling safety stock ramp starting August 15th.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INVENTORY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Economic Order Quantity (EOQ) &amp; Stockout Risk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Balancing holding costs vs ordering costs across 35 SKU-Warehouse nodes to eliminate working capital traps.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698480" cy="6858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3327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B703"/>
                </a:solidFill>
                <a:latin typeface="Calibri"/>
              </a:rPr>
              <a:t>MATHEMATICAL MODEL:   EOQ = √ ( 2 × Annual Demand × Order Cost  ÷  Holding Cost per Case/Year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1033272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 b="0" i="0">
                <a:solidFill>
                  <a:srgbClr val="FDF0D5"/>
                </a:solidFill>
                <a:latin typeface="Calibri"/>
              </a:rPr>
              <a:t>Safety Stock = Z × σ_Demand × √Lead_Time   |   Reorder Point = (Daily Demand × Lead Time) + Safety 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14600"/>
            <a:ext cx="347472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514600"/>
            <a:ext cx="3474720" cy="9144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EF476F"/>
                </a:solidFill>
                <a:latin typeface="Calibri"/>
              </a:rPr>
              <a:t>HIGH STOCKOUT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4400" b="1" i="0">
                <a:solidFill>
                  <a:srgbClr val="0F141C"/>
                </a:solidFill>
                <a:latin typeface="Calibri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SKU-Warehouse Nodes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977639"/>
            <a:ext cx="310896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Current Stock &lt; Reorder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10896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Immediate order trigger required. East India warehouses show chronic 30% safety stock deficit.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2514600"/>
            <a:ext cx="347472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43400" y="2514600"/>
            <a:ext cx="3474720" cy="9144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69748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  <a:latin typeface="Calibri"/>
              </a:rPr>
              <a:t>OPTIMAL BUFFER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9718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4400" b="1" i="0">
                <a:solidFill>
                  <a:srgbClr val="0F141C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SKU-Warehouse Nodes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3977639"/>
            <a:ext cx="310896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06908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Reorder Point ≤ Stock ≤ 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343400"/>
            <a:ext cx="310896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Balanced inventory. Lager 500ml and Strong Beer in North/West hubs exhibit near-perfect alignment.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2514600"/>
            <a:ext cx="347472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80" y="2514600"/>
            <a:ext cx="3474720" cy="9144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269748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FB8500"/>
                </a:solidFill>
                <a:latin typeface="Calibri"/>
              </a:rPr>
              <a:t>EXCESS / OVER-ORDER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9718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4400" b="1" i="0">
                <a:solidFill>
                  <a:srgbClr val="0F141C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70332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SKU-Warehouse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977639"/>
            <a:ext cx="310896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406908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Stock &gt; 1.4× EOQ Target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343400"/>
            <a:ext cx="310896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Working capital lockup. Stout 650ml is over-ordered by 45% above EOQ, inflating holding costs by INR 9L.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solidFill>
            <a:srgbClr val="FDF0D5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897880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EOQ SAVINGS REALIZATION: Right-sizing Stout orders to calculated EOQ saves INR 8.5L annually. Injecting dynamic buffer into East India prevents an estimated INR 24L in lost peak revenue.</a:t>
            </a:r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LOGISTICS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Last-Mile Route Optimization: The 28% Wasted Capacity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Granular analysis of 1,000 delivery routes tracking load utilization, stop density, and cost per case delivered.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1097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91440" cy="109728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AVG LOAD UTILIZATION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3852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0F141C"/>
                </a:solidFill>
                <a:latin typeface="Calibri"/>
              </a:rPr>
              <a:t>72.3%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1">
                <a:solidFill>
                  <a:srgbClr val="EF476F"/>
                </a:solidFill>
                <a:latin typeface="Calibri"/>
              </a:rPr>
              <a:t>28% of truck capacity runs empty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097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645920"/>
            <a:ext cx="91440" cy="109728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AVG COST PER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3852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0F141C"/>
                </a:solidFill>
                <a:latin typeface="Calibri"/>
              </a:rPr>
              <a:t>INR 31.88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1">
                <a:solidFill>
                  <a:srgbClr val="FB8500"/>
                </a:solidFill>
                <a:latin typeface="Calibri"/>
              </a:rPr>
              <a:t>Benchmark target is INR 14.50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45920"/>
            <a:ext cx="3474720" cy="1097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0" y="1645920"/>
            <a:ext cx="91440" cy="109728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73736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ON-TIME ROUTE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93852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0F141C"/>
                </a:solidFill>
                <a:latin typeface="Calibri"/>
              </a:rPr>
              <a:t>79.4%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42316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1">
                <a:solidFill>
                  <a:srgbClr val="118AB2"/>
                </a:solidFill>
                <a:latin typeface="Calibri"/>
              </a:rPr>
              <a:t>East India routes drag avg down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26080"/>
            <a:ext cx="6035040" cy="34747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063240"/>
            <a:ext cx="5669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Vehicle Type Performance Breakdown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29000"/>
            <a:ext cx="182880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474720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Vehicle Type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429000"/>
            <a:ext cx="82296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3474720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Routes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3429000"/>
            <a:ext cx="91440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0" y="3474720"/>
            <a:ext cx="914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Util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3429000"/>
            <a:ext cx="118872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3474720"/>
            <a:ext cx="118872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Cost/Case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3429000"/>
            <a:ext cx="91440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3474720"/>
            <a:ext cx="914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OTD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376732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3840480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32-ft Truck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376732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0" y="3840480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201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3767328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0" y="3840480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71.4%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76732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3840480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8.47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3840480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78.1%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4187952"/>
            <a:ext cx="18288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4261104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20-ft Truck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0" y="4187952"/>
            <a:ext cx="8229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0" y="4261104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231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66160" y="4187952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66160" y="4261104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73.1%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0" y="4187952"/>
            <a:ext cx="11887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4261104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13.16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4187952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4261104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78.8%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4608576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681728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Mini Truck (14-ft)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4608576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0" y="4681728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304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66160" y="4608576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0" y="4681728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73.0%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4608576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4681728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27.35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0" y="4608576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0" y="4681728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80.3%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5029200"/>
            <a:ext cx="18288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5102352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Tata Ace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0" y="5029200"/>
            <a:ext cx="8229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0" y="5102352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163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66160" y="5029200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5102352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71.4%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029200"/>
            <a:ext cx="11887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102352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60.30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0" y="5029200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69280" y="5102352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81.6%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544982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5522976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Tempo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544982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0" y="5522976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101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566160" y="5449824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66160" y="5522976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72.2%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80560" y="5449824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0" y="5522976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89.04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0" y="5449824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0" y="5522976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77.2%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49440" y="2926080"/>
            <a:ext cx="4480560" cy="34747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0" y="3063240"/>
            <a:ext cx="4114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Why Is 28% Capacity Wasted?</a:t>
            </a:r>
          </a:p>
        </p:txBody>
      </p:sp>
      <p:sp>
        <p:nvSpPr>
          <p:cNvPr id="87" name="Oval 86"/>
          <p:cNvSpPr/>
          <p:nvPr/>
        </p:nvSpPr>
        <p:spPr>
          <a:xfrm>
            <a:off x="7178040" y="3520439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52360" y="3474720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Misaligned Vehicle Sizing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52360" y="3675887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32-ft heavy trucks deployed on sub-50km urban routes where a Tata Ace would cut cost by 40%.</a:t>
            </a:r>
          </a:p>
        </p:txBody>
      </p:sp>
      <p:sp>
        <p:nvSpPr>
          <p:cNvPr id="90" name="Oval 89"/>
          <p:cNvSpPr/>
          <p:nvPr/>
        </p:nvSpPr>
        <p:spPr>
          <a:xfrm>
            <a:off x="7178040" y="4215383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452360" y="4169663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Geographic Rather than Load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52360" y="4370831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Routes are planned by municipality zones rather than dynamic cube-utilization algorithms.</a:t>
            </a:r>
          </a:p>
        </p:txBody>
      </p:sp>
      <p:sp>
        <p:nvSpPr>
          <p:cNvPr id="93" name="Oval 92"/>
          <p:cNvSpPr/>
          <p:nvPr/>
        </p:nvSpPr>
        <p:spPr>
          <a:xfrm>
            <a:off x="7178040" y="4910328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52360" y="4864608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Distributor Frequency Demands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52360" y="5065776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High-frequency, small-drop orders prevent full-pallet consolidation.</a:t>
            </a:r>
          </a:p>
        </p:txBody>
      </p:sp>
      <p:sp>
        <p:nvSpPr>
          <p:cNvPr id="96" name="Oval 95"/>
          <p:cNvSpPr/>
          <p:nvPr/>
        </p:nvSpPr>
        <p:spPr>
          <a:xfrm>
            <a:off x="7178040" y="5605272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52360" y="5559552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Backhaul Inefficiency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52360" y="5760720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Over 65% of regional delivery trips return to the mother warehouse empty (zero revenue backhaul).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FLEET OPERATIONS &amp; ESG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Fleet Health, Maintenance Costs &amp; Carbon Emissions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Tracking 265 dedicated transport assets across age profiles, breakdown frequencies, and decarbonization pathways.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09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1143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73152"/>
          </a:xfrm>
          <a:prstGeom prst="round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5564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ACTIVE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10896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1B263B"/>
                </a:solidFill>
                <a:latin typeface="Calibri"/>
              </a:rPr>
              <a:t>265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50592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0F141C"/>
                </a:solidFill>
                <a:latin typeface="Calibri"/>
              </a:rPr>
              <a:t>248 Active · 17 In Repair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143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645920"/>
            <a:ext cx="3474720" cy="73152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75564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MONTHLY CO2 EMISSIONS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1965960"/>
            <a:ext cx="310896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B8500"/>
                </a:solidFill>
                <a:latin typeface="Calibri"/>
              </a:rPr>
              <a:t>410.0 Tonnes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450592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0F141C"/>
                </a:solidFill>
                <a:latin typeface="Calibri"/>
              </a:rPr>
              <a:t>Decarbonization target: -20%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45920"/>
            <a:ext cx="3474720" cy="1143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0" y="1645920"/>
            <a:ext cx="3474720" cy="73152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75564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MAINTENANCE EXPENDITURE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965960"/>
            <a:ext cx="310896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EF476F"/>
                </a:solidFill>
                <a:latin typeface="Calibri"/>
              </a:rPr>
              <a:t>INR 36.6 Lakhs/mo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450592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0F141C"/>
                </a:solidFill>
                <a:latin typeface="Calibri"/>
              </a:rPr>
              <a:t>Aged vehicles (&gt;5 yrs) drive 68% of spend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017520"/>
            <a:ext cx="5303520" cy="3383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154680"/>
            <a:ext cx="49377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Vehicle Age vs Breakdown Risk &amp; Maintenance Spend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566160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3566160"/>
            <a:ext cx="91440" cy="566928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639312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1 - 2 Years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858768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98 Units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3730752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6D6A0"/>
                </a:solidFill>
                <a:latin typeface="Calibri"/>
              </a:rPr>
              <a:t>0.2 Breakdowns/mo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730752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1,850/mo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4224528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" y="4224528"/>
            <a:ext cx="91440" cy="566928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297680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3 - 4 Years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517136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84 Units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4389120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18AB2"/>
                </a:solidFill>
                <a:latin typeface="Calibri"/>
              </a:rPr>
              <a:t>0.8 Breakdowns/mo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389120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4,200/mo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882896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4882896"/>
            <a:ext cx="91440" cy="566928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4956048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5 - 6 Years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5175504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52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047488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FB8500"/>
                </a:solidFill>
                <a:latin typeface="Calibri"/>
              </a:rPr>
              <a:t>1.9 Breakdowns/mo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5047488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9,100/mo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5541264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4400" y="5541264"/>
            <a:ext cx="91440" cy="566928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614416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7+ Years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5833872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31 Units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51760" y="5705856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EF476F"/>
                </a:solidFill>
                <a:latin typeface="Calibri"/>
              </a:rPr>
              <a:t>3.4 Breakdowns/mo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705856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16,800/mo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3017520"/>
            <a:ext cx="5212080" cy="3383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15468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Fleet Right-Sizing &amp; ESG Roadmap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356616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400800" y="3566160"/>
            <a:ext cx="91440" cy="74980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3639312"/>
            <a:ext cx="4480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Phase Out 7+ Year 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3858768"/>
            <a:ext cx="44805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415A77"/>
                </a:solidFill>
                <a:latin typeface="Calibri"/>
              </a:rPr>
              <a:t>Retiring the 31 oldest vehicles will eliminate 42% of all unscheduled breakdowns during peak Q4 delivery.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443484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400800" y="4434840"/>
            <a:ext cx="91440" cy="74980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9400" y="4507992"/>
            <a:ext cx="4480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CNG / EV Pilot in Metro Hubs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4727448"/>
            <a:ext cx="44805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415A77"/>
                </a:solidFill>
                <a:latin typeface="Calibri"/>
              </a:rPr>
              <a:t>Piloting 15 electric 14-ft delivery trucks in Delhi &amp; Mumbai cuts route fuel cost by 35% and drops fleet CO2 by 18T/mo.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0" y="530352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400800" y="5303520"/>
            <a:ext cx="91440" cy="74980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400" y="5376672"/>
            <a:ext cx="4480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Dynamic Preventive Servicing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5596128"/>
            <a:ext cx="44805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415A77"/>
                </a:solidFill>
                <a:latin typeface="Calibri"/>
              </a:rPr>
              <a:t>Transitioning from mileage-based to engine-telematics maintenance schedules prior to festival peak.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QUALITY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Cold Chain Monitoring &amp; The 18% Temperature Breach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Audit of 600 cold chain transactions identifying thermal breakdown points across the 5-stage logistics corridor.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10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4114800" cy="4754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374903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Overall Thermal Compliance</a:t>
            </a:r>
          </a:p>
        </p:txBody>
      </p:sp>
      <p:sp>
        <p:nvSpPr>
          <p:cNvPr id="10" name="Oval 9"/>
          <p:cNvSpPr/>
          <p:nvPr/>
        </p:nvSpPr>
        <p:spPr>
          <a:xfrm>
            <a:off x="1417320" y="2240280"/>
            <a:ext cx="2743200" cy="27432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108960"/>
            <a:ext cx="274320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4600" b="1" i="0">
                <a:solidFill>
                  <a:srgbClr val="EF476F"/>
                </a:solidFill>
                <a:latin typeface="Calibri"/>
              </a:rPr>
              <a:t>53.0%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88620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0F141C"/>
                </a:solidFill>
                <a:latin typeface="Calibri"/>
              </a:rPr>
              <a:t>BREACH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60520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1">
                <a:solidFill>
                  <a:srgbClr val="415A77"/>
                </a:solidFill>
                <a:latin typeface="Calibri"/>
              </a:rPr>
              <a:t>Target SLA: &lt; 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57800"/>
            <a:ext cx="374903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49240"/>
            <a:ext cx="356616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Annual Quality Spoilage Impact: ~INR 3.8 Lakhs in quarantined or dumped beer cases due to summer thermal shock.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400800" cy="4754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1783080"/>
            <a:ext cx="60350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Thermal Breach Probability by Supply Chain Stage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2194560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0" y="2194560"/>
            <a:ext cx="91440" cy="68580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2267712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01. Brewery Loading Dock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487168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Automated pre-cooling in place; minimal breach.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59152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06D6A0"/>
                </a:solidFill>
                <a:latin typeface="Calibri"/>
              </a:rPr>
              <a:t>2.1%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0" y="2999232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12080" y="2999232"/>
            <a:ext cx="91440" cy="68580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3072384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02. Primary Long-Haul Transit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3291839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Reefer container units maintain stable 4°C–6°C range.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3163824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06D6A0"/>
                </a:solidFill>
                <a:latin typeface="Calibri"/>
              </a:rPr>
              <a:t>6.4%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12080" y="3803904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3803904"/>
            <a:ext cx="91440" cy="68580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3877056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03. Regional Distribution 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4096512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Cross-dock staging occasionally delays cold vault intake.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968496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118AB2"/>
                </a:solidFill>
                <a:latin typeface="Calibri"/>
              </a:rPr>
              <a:t>8.9%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12080" y="4608576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12080" y="4608576"/>
            <a:ext cx="91440" cy="68580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4681728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04. Secondary Urban 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4901184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Frequent truck door openings during multi-drop runs.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4773168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FB8500"/>
                </a:solidFill>
                <a:latin typeface="Calibri"/>
              </a:rPr>
              <a:t>18.2%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80" y="5413248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12080" y="5413248"/>
            <a:ext cx="91440" cy="68580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94960" y="5486400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05. Retail &amp; Taproom Handover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4960" y="5705856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Bottleneck! Small retailers lack walk-in coolers; beer sits on warm loading bays.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5577840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EF476F"/>
                </a:solidFill>
                <a:latin typeface="Calibri"/>
              </a:rPr>
              <a:t>34.8%</a:t>
            </a:r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FREIGHT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Multi-Modal Freight Benchmarking: The Rail Arbitrage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Cross-analyzing 400 long-haul shipments across Road, Rail, Air, and 3PL to unlock margin expansion.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11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Cross-Modal Performance Matrix (400 Benchmarked Shipments)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210312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Freight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128016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2212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Cost / 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2148840"/>
            <a:ext cx="128016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2212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Transit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2148840"/>
            <a:ext cx="128016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212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On-Time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148840"/>
            <a:ext cx="146304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212848"/>
            <a:ext cx="14630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CO2 / Shipment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148840"/>
            <a:ext cx="292608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212848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Operational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2514600"/>
            <a:ext cx="2103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587752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Rail Freight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514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39" y="2587752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20.44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2514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399" y="2587752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6.6 Days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2514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59" y="2587752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85.5%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514600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142.9 KG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2514600"/>
            <a:ext cx="2926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87752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Primary bulk corridor (&gt;800km). Expand share from 15% to 25%.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2935224"/>
            <a:ext cx="21031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3008376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Road (Mini-Truck)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2935224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63239" y="3008376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46.40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2935224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43399" y="3008376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2.4 Days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2935224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59" y="3008376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84.4%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2935224"/>
            <a:ext cx="146304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3008376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519.3 KG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2935224"/>
            <a:ext cx="292608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008376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Restrict to urban last-mile delivery only.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3355848"/>
            <a:ext cx="2103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3429000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3PL Partner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35584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63239" y="3429000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46.64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79" y="335584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399" y="3429000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3.5 Days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335584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23559" y="3429000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86.2%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0" y="3355848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03720" y="3429000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507.3 KG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3355848"/>
            <a:ext cx="2926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3429000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Use for peak seasonal surge capacity (Q4 buffer).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3776472"/>
            <a:ext cx="21031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120" y="3849624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Road (Truck)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3776472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63239" y="3849624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49.86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79" y="3776472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43399" y="3849624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4.1 Days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0" y="3776472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849624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85.4%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0" y="3776472"/>
            <a:ext cx="146304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03720" y="3849624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487.4 KG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3776472"/>
            <a:ext cx="292608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3849624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Core inter-hub freight. Enforce cubic load optimization.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4197096"/>
            <a:ext cx="2103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0120" y="4270248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Air Freight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41970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63239" y="4270248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182.10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97679" y="41970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43399" y="4270248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1.0 Days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0" y="41970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23559" y="4270248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84.1%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58000" y="4197096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03720" y="4270248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2479.2 KG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21040" y="4197096"/>
            <a:ext cx="2926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66760" y="4270248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Emergency stockout resupply only (costs 4.5× road).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31520" y="4937760"/>
            <a:ext cx="10698480" cy="1508760"/>
          </a:xfrm>
          <a:prstGeom prst="roundRect">
            <a:avLst/>
          </a:prstGeom>
          <a:solidFill>
            <a:srgbClr val="FDF0D5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5047488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THE RAIL ARBITRAGE BUSINESS CASE (INR 18-24 Lakhs Annual Savings)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1B263B"/>
                </a:solidFill>
                <a:latin typeface="Calibri"/>
              </a:rPr>
              <a:t>• Rail freight delivers a 44% cost reduction per case compared to standard road trucking (INR 8.20 vs INR 14.80).
• While rail adds 2.3 days to transit time, beer inventory for stable core SKUs (Lager 500ml) can easily absorb this lead time via scheduled batch dispatching.
• Shifting 10% of long-haul volume from Mumbai/Delhi to Kolkata/Bhopal from road to rail unlocks INR 18–24L in recurring annual freight savings and cuts logistics emissions by 60 tonnes.</a:t>
            </a:r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CHANNEL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Distributor Performance Scorecard: Grade A to D Tiering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Evaluating 20 regional distribution partners using a weighted composite model: OTIF (35%), Fill Rate (30%), Damage (20%), TAT (15%).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60320" cy="73152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6D6A0"/>
                </a:solidFill>
                <a:latin typeface="Calibri"/>
              </a:rPr>
              <a:t>GRADE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≥ 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Top performers. Qualify for volume rebate incentives &amp; priority stock.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645920"/>
            <a:ext cx="2560320" cy="73152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18AB2"/>
                </a:solidFill>
                <a:latin typeface="Calibri"/>
              </a:rPr>
              <a:t>GRADE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70 - 84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Stable partners. Reliable execution with minor delivery delay outliers.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645920"/>
            <a:ext cx="2560320" cy="73152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FB8500"/>
                </a:solidFill>
                <a:latin typeface="Calibri"/>
              </a:rPr>
              <a:t>GRADE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55 - 69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Underperforming. High damage rates (&gt;1.2%) &amp; delayed turnaround times.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23960" y="1645920"/>
            <a:ext cx="2560320" cy="73152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GRADE 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&lt; 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Critical intervention! Chronic OTIF failure (&lt;70%). Risk of contract review.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749039"/>
            <a:ext cx="5212080" cy="27432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38587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6D6A0"/>
                </a:solidFill>
                <a:latin typeface="Calibri"/>
              </a:rPr>
              <a:t>TOP 3 BENCHMARK DISTRIBUTORS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160520"/>
            <a:ext cx="128016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187952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Distributor 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03120" y="4160520"/>
            <a:ext cx="11887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03120" y="4187952"/>
            <a:ext cx="11887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39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39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OTIF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59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59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Damage 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79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79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59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4959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46227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53542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DIST-NOR-04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03120" y="446227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03120" y="453542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East India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39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1839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94.1%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23359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23359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2.54%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79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79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84.9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59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59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  <a:latin typeface="Calibri"/>
              </a:rPr>
              <a:t>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4873752"/>
            <a:ext cx="128016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" y="494690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DIST-WES-01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03120" y="4873752"/>
            <a:ext cx="11887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0" y="494690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Central India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39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839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78.1%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23359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23359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0.77%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54879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79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84.1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94959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94959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  <a:latin typeface="Calibri"/>
              </a:rPr>
              <a:t>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" y="528523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535838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DIST-CEN-02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528523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0" y="535838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North India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39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91839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91.9%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23359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023359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0.92%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79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79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84.1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94959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4959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  <a:latin typeface="Calibri"/>
              </a:rPr>
              <a:t>B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17920" y="3749039"/>
            <a:ext cx="5212080" cy="27432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00800" y="38587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EF476F"/>
                </a:solidFill>
                <a:latin typeface="Calibri"/>
              </a:rPr>
              <a:t>BOTTOM 3 PARTNERS (DPIP ACTION PLAN)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59" y="4160520"/>
            <a:ext cx="128016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09359" y="4187952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Distributor ID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89519" y="4160520"/>
            <a:ext cx="11887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9519" y="4187952"/>
            <a:ext cx="11887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778240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78240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OTIF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09760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09760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Damage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41280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881360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81360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59" y="446227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59" y="453542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DIST-WES-03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89519" y="446227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9519" y="453542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Central India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778240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778240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66.4%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509760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509760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2.03%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41280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74.2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881360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881360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EF476F"/>
                </a:solidFill>
                <a:latin typeface="Calibri"/>
              </a:rPr>
              <a:t>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09359" y="4873752"/>
            <a:ext cx="128016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09359" y="494690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DIST-EAS-03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89519" y="4873752"/>
            <a:ext cx="11887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9519" y="494690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North India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778240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778240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81.5%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09760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60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2.63%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241280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75.7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881360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881360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EF476F"/>
                </a:solidFill>
                <a:latin typeface="Calibri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09359" y="528523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09359" y="535838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DIST-WES-04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589519" y="528523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89519" y="535838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East India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778240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778240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76.6%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509760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509760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3.35%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41280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76.2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881360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81360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EF476F"/>
                </a:solidFill>
                <a:latin typeface="Calibri"/>
              </a:rPr>
              <a:t>B</a:t>
            </a:r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EXECUTIVE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Strategic Transformation: 90-Day Implementation &amp; ROI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Three synchronized workstreams projected to recover INR 55–80 Lakhs in annualized operational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109728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FB8500"/>
                </a:solidFill>
                <a:latin typeface="Calibri"/>
              </a:rPr>
              <a:t>PILLAR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DYNAMIC BUFFER &amp; EOQ REBALANCING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97480"/>
            <a:ext cx="3108960" cy="2286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• Implement seasonal inventory build rules: pre-build 25% safety stock for top SKUs by Sept 1st.
• Rebalance Stout 650ml order quantities to EOQ targets, cutting excess holding capital by 45%.
• Integrate weekly POS sales data feeds from Grade A distributors to shorten forecast response lag.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3108960" cy="4572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3892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B8500"/>
                </a:solidFill>
                <a:latin typeface="Calibri"/>
              </a:rPr>
              <a:t>SAVINGS: INR 18 - 25 LAKHS / YR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645920"/>
            <a:ext cx="3474720" cy="10972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FFB703"/>
                </a:solidFill>
                <a:latin typeface="Calibri"/>
              </a:rPr>
              <a:t>PILLAR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48840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MULTI-MODAL LOGISTICS &amp; TMS ROUTE POOLING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97480"/>
            <a:ext cx="3108960" cy="2286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• Establish long-term rail container contracts on Delhi–Kolkata and Mumbai–Bhopal routes.
• Deploy dynamic route planning software to enforce minimum 85% cubic vehicle load factors.
• Rationalize urban delivery fleet: shift sub-50km drops from 32-ft trucks to 14-ft reefer vehicles.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5029200"/>
            <a:ext cx="3108960" cy="4572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513892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B703"/>
                </a:solidFill>
                <a:latin typeface="Calibri"/>
              </a:rPr>
              <a:t>SAVINGS: INR 22 - 32 LAKHS / YR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80" y="1645920"/>
            <a:ext cx="3474720" cy="109728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874519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6D6A0"/>
                </a:solidFill>
                <a:latin typeface="Calibri"/>
              </a:rPr>
              <a:t>PILLAR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148840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COLD CHAIN AUDIT &amp; DISTRIBUTOR PIP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97480"/>
            <a:ext cx="3108960" cy="2286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• Mandate IoT GPS temperature dataloggers on all secondary distributor trucks.
• Launch Distributor Performance Improvement Program (DPIP) with quarterly business scorecards.
• Reallocate underperforming Grade D regional territories to high-capacity Grade A partners.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5029200"/>
            <a:ext cx="3108960" cy="4572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513892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06D6A0"/>
                </a:solidFill>
                <a:latin typeface="Calibri"/>
              </a:rPr>
              <a:t>SAVINGS: INR 15 - 23 LAKHS / YR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FFB703"/>
                </a:solidFill>
                <a:latin typeface="Calibri"/>
              </a:rPr>
              <a:t>90-DAY ROLLOUT: Days 1-30: EOQ Model &amp; Safety Stock Reset  |  Days 31-60: Rail Contract &amp; Route Pooling Pilot  |  Days 61-90: Cold Chain IoT &amp; DPIP Governance</a:t>
            </a:r>
          </a:p>
        </p:txBody>
      </p:sp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Calibri"/>
              </a:rPr>
              <a:t>14 / 14</a:t>
            </a:r>
          </a:p>
        </p:txBody>
      </p:sp>
      <p:sp>
        <p:nvSpPr>
          <p:cNvPr id="3" name="Oval 2"/>
          <p:cNvSpPr/>
          <p:nvPr/>
        </p:nvSpPr>
        <p:spPr>
          <a:xfrm>
            <a:off x="2743200" y="457200"/>
            <a:ext cx="6675120" cy="5943600"/>
          </a:xfrm>
          <a:prstGeom prst="ellipse">
            <a:avLst/>
          </a:prstGeom>
          <a:solidFill>
            <a:srgbClr val="1F15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5752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400" b="1" i="0">
                <a:solidFill>
                  <a:srgbClr val="FFB703"/>
                </a:solidFill>
                <a:latin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40280"/>
            <a:ext cx="9445752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Ready to drive operational excellence in beverage supply chains.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834640"/>
            <a:ext cx="4873752" cy="36576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0" y="3108960"/>
            <a:ext cx="5788152" cy="24688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3337560"/>
            <a:ext cx="539496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2000" b="1" i="0">
                <a:solidFill>
                  <a:srgbClr val="FFB703"/>
                </a:solidFill>
                <a:latin typeface="Calibri"/>
              </a:rPr>
              <a:t>HARSH RAJ PANDEY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703320"/>
            <a:ext cx="5394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b="0" i="1">
                <a:solidFill>
                  <a:srgbClr val="FDF0D5"/>
                </a:solidFill>
                <a:latin typeface="Calibri"/>
              </a:rPr>
              <a:t>Aspiring Logistics &amp; Supply Chain Manager · AB InBev Candidate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114800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B8500"/>
                </a:solidFill>
                <a:latin typeface="Calibri"/>
              </a:rPr>
              <a:t>GitHub Repository: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114800"/>
            <a:ext cx="3383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https://github.com/Harsh258-collab/beerflow-supply-chain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B8500"/>
                </a:solidFill>
                <a:latin typeface="Calibri"/>
              </a:rPr>
              <a:t>LinkedIn Profile: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526280"/>
            <a:ext cx="3383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https://www.linkedin.com/in/harsh-raj-pandey-1a0319325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937760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B8500"/>
                </a:solidFill>
                <a:latin typeface="Calibri"/>
              </a:rPr>
              <a:t>Contact Email: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4937760"/>
            <a:ext cx="3383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harsh258.collab@gmail.com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89320"/>
            <a:ext cx="9445752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FDF0D5"/>
                </a:solidFill>
                <a:latin typeface="Calibri"/>
              </a:rPr>
              <a:t>"In the beverage industry, logistics is not a cost center — it is the primary brand differentiator."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BeerFlow - Beverage Supply Chain Optimization</dc:title>
  <dc:subject>Logistics &amp; Supply Chain Analytics | AB InBev Project</dc:subject>
  <dc:creator>Harsh Raj Pandey</dc:creator>
  <cp:keywords>Supply Chain, Logistics, Beer, FMCG, EOQ, OTIF, Cold Chain</cp:keywords>
  <dc:description>generated using python-pptx</dc:description>
  <cp:lastModifiedBy>Harsh Raj Pandey</cp:lastModifiedBy>
  <cp:revision>1</cp:revision>
  <dcterms:created xsi:type="dcterms:W3CDTF">2026-09-10T09:00:00Z</dcterms:created>
  <dcterms:modified xsi:type="dcterms:W3CDTF">2026-09-20T21:00:00Z</dcterms:modified>
  <cp:category/>
</cp:coreProperties>
</file>