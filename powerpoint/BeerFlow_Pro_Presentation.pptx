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0" cy="164592"/>
          </a:xfrm>
          <a:prstGeom prst="rect">
            <a:avLst/>
          </a:prstGeom>
          <a:solidFill>
            <a:srgbClr val="C8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4389120"/>
            <a:ext cx="4572000" cy="4572000"/>
          </a:xfrm>
          <a:prstGeom prst="ellipse">
            <a:avLst/>
          </a:prstGeom>
          <a:solidFill>
            <a:srgbClr val="D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6035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1A1A2E"/>
                </a:solidFill>
                <a:latin typeface="Calibri"/>
              </a:rPr>
              <a:t>BEER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84831"/>
            <a:ext cx="5943600" cy="91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121408"/>
            <a:ext cx="6035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Calibri"/>
              </a:rP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79476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1A1A2E"/>
                </a:solidFill>
                <a:latin typeface="Calibri"/>
              </a:rPr>
              <a:t>A SUPPLY CHAIN ANALYTICS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251960"/>
            <a:ext cx="283464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3251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890C"/>
                </a:solidFill>
                <a:latin typeface="Calibri"/>
              </a:rPr>
              <a:t>Demand Forecasting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4251960"/>
            <a:ext cx="283464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3251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890C"/>
                </a:solidFill>
                <a:latin typeface="Calibri"/>
              </a:rPr>
              <a:t>Inventory · EOQ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18888"/>
            <a:ext cx="283464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892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890C"/>
                </a:solidFill>
                <a:latin typeface="Calibri"/>
              </a:rPr>
              <a:t>Logistics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818888"/>
            <a:ext cx="283464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4892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890C"/>
                </a:solidFill>
                <a:latin typeface="Calibri"/>
              </a:rPr>
              <a:t>Cold 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85816"/>
            <a:ext cx="283464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4589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890C"/>
                </a:solidFill>
                <a:latin typeface="Calibri"/>
              </a:rPr>
              <a:t>Risk Register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5385816"/>
            <a:ext cx="283464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54589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890C"/>
                </a:solidFill>
                <a:latin typeface="Calibri"/>
              </a:rPr>
              <a:t>Distributor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0"/>
            <a:ext cx="54864" cy="6858000"/>
          </a:xfrm>
          <a:prstGeom prst="rect">
            <a:avLst/>
          </a:prstGeom>
          <a:solidFill>
            <a:srgbClr val="C8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06640" y="548640"/>
            <a:ext cx="2011680" cy="2011680"/>
          </a:xfrm>
          <a:prstGeom prst="ellipse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18120" y="822960"/>
            <a:ext cx="1188720" cy="1188720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1828800"/>
            <a:ext cx="1737360" cy="1097280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60920" y="502920"/>
            <a:ext cx="2103120" cy="2103120"/>
          </a:xfrm>
          <a:prstGeom prst="ellipse">
            <a:avLst/>
          </a:prstGeom>
          <a:noFill/>
          <a:ln w="38100">
            <a:solidFill>
              <a:srgbClr val="E88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78892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Harsh Raj Pandey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401568"/>
            <a:ext cx="3840480" cy="54864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520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66"/>
                </a:solidFill>
                <a:latin typeface="Calibri"/>
              </a:rPr>
              <a:t>Supply Chain Analyst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858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99"/>
                </a:solidFill>
                <a:latin typeface="Calibri"/>
              </a:rPr>
              <a:t>FMCG  &amp;  Beverage Domain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4370832"/>
            <a:ext cx="1600200" cy="82296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2,000+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00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Orders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4370832"/>
            <a:ext cx="1600200" cy="82296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443484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1,000+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800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Routes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7000" y="4370832"/>
            <a:ext cx="1600200" cy="82296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443484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800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Datasets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5349240"/>
            <a:ext cx="5212080" cy="3657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54681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6EC8"/>
                </a:solidFill>
                <a:latin typeface="Calibri"/>
              </a:rPr>
              <a:t>github.com/Harsh258-collab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760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6EC8"/>
                </a:solidFill>
                <a:latin typeface="Calibri"/>
              </a:rPr>
              <a:t>linkedin.com/in/harsh-raj-pandey-1a0319325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6309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99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JOURNEY OF EVERY BOTTLE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99"/>
                </a:solidFill>
                <a:latin typeface="Calibri"/>
              </a:rPr>
              <a:t>From raw ingredients to your glass — this is the supply chain we optimized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1155680" cy="36576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" y="1490472"/>
            <a:ext cx="1600200" cy="25603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160020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160020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7" y="15544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16712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SOURCING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587752"/>
            <a:ext cx="1453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Malt · Hops · Barley</a:t>
            </a:r>
          </a:p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Supplier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74720"/>
            <a:ext cx="1600200" cy="50292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7" y="2624328"/>
            <a:ext cx="246888" cy="146304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1175" y="2569464"/>
            <a:ext cx="73152" cy="25603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1490472"/>
            <a:ext cx="1600200" cy="25603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608" y="1417320"/>
            <a:ext cx="1600200" cy="2560320"/>
          </a:xfrm>
          <a:prstGeom prst="rect">
            <a:avLst/>
          </a:prstGeom>
          <a:solidFill>
            <a:srgbClr val="0F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608" y="1417320"/>
            <a:ext cx="160020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27248" y="15544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248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16712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BREWING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587752"/>
            <a:ext cx="1453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Production Planning</a:t>
            </a:r>
          </a:p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Batch Scheduling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8608" y="3474720"/>
            <a:ext cx="1600200" cy="5029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24528" y="2624328"/>
            <a:ext cx="246888" cy="146304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71416" y="2569464"/>
            <a:ext cx="73152" cy="25603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1490472"/>
            <a:ext cx="1600200" cy="25603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98848" y="1417320"/>
            <a:ext cx="1600200" cy="25603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8848" y="1417320"/>
            <a:ext cx="160020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7488" y="15544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16712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WAREHOUSING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587752"/>
            <a:ext cx="1453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EOQ Inventory</a:t>
            </a:r>
          </a:p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Safety Stock · FEFO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98848" y="3474720"/>
            <a:ext cx="1600200" cy="502920"/>
          </a:xfrm>
          <a:prstGeom prst="rect">
            <a:avLst/>
          </a:prstGeom>
          <a:solidFill>
            <a:srgbClr val="A25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2624328"/>
            <a:ext cx="246888" cy="146304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91656" y="2569464"/>
            <a:ext cx="73152" cy="25603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1490472"/>
            <a:ext cx="1600200" cy="25603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19088" y="1417320"/>
            <a:ext cx="1600200" cy="2560320"/>
          </a:xfrm>
          <a:prstGeom prst="rect">
            <a:avLst/>
          </a:prstGeom>
          <a:solidFill>
            <a:srgbClr val="14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1417320"/>
            <a:ext cx="160020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67728" y="15544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8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16712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LOGISTICS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2587752"/>
            <a:ext cx="1453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Route Optimization</a:t>
            </a:r>
          </a:p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Last-Mile Delivery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3474720"/>
            <a:ext cx="1600200" cy="502920"/>
          </a:xfrm>
          <a:prstGeom prst="rect">
            <a:avLst/>
          </a:prstGeom>
          <a:solidFill>
            <a:srgbClr val="0E3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65008" y="2624328"/>
            <a:ext cx="246888" cy="146304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11896" y="2569464"/>
            <a:ext cx="73152" cy="25603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1490472"/>
            <a:ext cx="1600200" cy="25603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39328" y="1417320"/>
            <a:ext cx="1600200" cy="2560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9328" y="1417320"/>
            <a:ext cx="160020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87968" y="15544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87968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216712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DISTRIBUTOR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587752"/>
            <a:ext cx="1453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KPI Scorecard</a:t>
            </a:r>
          </a:p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OTIF · Fill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8" y="3474720"/>
            <a:ext cx="1600200" cy="502920"/>
          </a:xfrm>
          <a:prstGeom prst="rect">
            <a:avLst/>
          </a:prstGeom>
          <a:solidFill>
            <a:srgbClr val="00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85248" y="2624328"/>
            <a:ext cx="246888" cy="146304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32136" y="2569464"/>
            <a:ext cx="73152" cy="25603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32720" y="1490472"/>
            <a:ext cx="1600200" cy="256032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259568" y="1417320"/>
            <a:ext cx="160020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259568" y="1417320"/>
            <a:ext cx="160020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08208" y="15544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08208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05288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347"/>
                </a:solidFill>
                <a:latin typeface="Calibri"/>
              </a:rPr>
              <a:t>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2167128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RETAIL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20" y="2587752"/>
            <a:ext cx="1453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Cold Chain</a:t>
            </a:r>
          </a:p>
          <a:p>
            <a:pPr algn="ctr">
              <a:spcBef>
                <a:spcPts val="5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On-Shelf Availability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59568" y="3474720"/>
            <a:ext cx="1600200" cy="502920"/>
          </a:xfrm>
          <a:prstGeom prst="rect">
            <a:avLst/>
          </a:prstGeom>
          <a:solidFill>
            <a:srgbClr val="1B7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7160" y="4206240"/>
            <a:ext cx="1188720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427939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💡  BeerFlow analyses every stage of this journey — from supplier lead times to last-mile delivery, cold chain compliance to distributor performance.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9144000" cy="9144000"/>
          </a:xfrm>
          <a:prstGeom prst="ellipse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828800"/>
            <a:ext cx="8229600" cy="6400800"/>
          </a:xfrm>
          <a:prstGeom prst="ellipse">
            <a:avLst/>
          </a:prstGeom>
          <a:solidFill>
            <a:srgbClr val="15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08392" y="3392424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8542" y="4008996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46447" y="4535776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31927" y="4896046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19913" y="5037341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99534" y="4939082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61136" y="4615580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83128" y="4113947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20561" y="3507237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7109" y="2883806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1624" y="2334447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89759" y="1939162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90426" y="1755520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6149" y="1810264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75801" y="2095421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87880" y="2569463"/>
            <a:ext cx="109728" cy="109728"/>
          </a:xfrm>
          <a:prstGeom prst="ellipse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92374" y="3163356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6080" y="914400"/>
            <a:ext cx="164592" cy="164592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1097280"/>
            <a:ext cx="128016" cy="128016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86000" y="5029200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0" y="5303520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0" y="548640"/>
            <a:ext cx="91440" cy="9144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0" y="731520"/>
            <a:ext cx="128016" cy="128016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0" y="3200400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28800" y="2926080"/>
            <a:ext cx="91440" cy="9144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57600" y="5943600"/>
            <a:ext cx="137160" cy="13716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0" y="6217920"/>
            <a:ext cx="118872" cy="118872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1645920"/>
            <a:ext cx="1371600" cy="2194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1645920"/>
            <a:ext cx="1371600" cy="50292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29000" y="1463040"/>
            <a:ext cx="1463040" cy="457200"/>
          </a:xfrm>
          <a:prstGeom prst="ellipse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66160" y="132588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931920" y="126187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97680" y="135331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28032" y="1965960"/>
            <a:ext cx="502920" cy="1005840"/>
          </a:xfrm>
          <a:prstGeom prst="ellipse">
            <a:avLst/>
          </a:prstGeom>
          <a:noFill/>
          <a:ln w="1016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03320" y="2240280"/>
            <a:ext cx="201168" cy="13716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3767328"/>
            <a:ext cx="1371600" cy="182880"/>
          </a:xfrm>
          <a:prstGeom prst="rect">
            <a:avLst/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47"/>
                </a:solidFill>
                <a:latin typeface="Calibri"/>
              </a:rPr>
              <a:t>🌾  Brewery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1645920"/>
            <a:ext cx="1371600" cy="2194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1645920"/>
            <a:ext cx="1371600" cy="50292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200" y="1463040"/>
            <a:ext cx="1463040" cy="457200"/>
          </a:xfrm>
          <a:prstGeom prst="ellipse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40" y="132588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72400" y="1261872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38160" y="135331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58000" y="1965960"/>
            <a:ext cx="502920" cy="1005840"/>
          </a:xfrm>
          <a:prstGeom prst="ellipse">
            <a:avLst/>
          </a:prstGeom>
          <a:noFill/>
          <a:ln w="1016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43800" y="2240280"/>
            <a:ext cx="201168" cy="13716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60920" y="3767328"/>
            <a:ext cx="1371600" cy="182880"/>
          </a:xfrm>
          <a:prstGeom prst="rect">
            <a:avLst/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47"/>
                </a:solidFill>
                <a:latin typeface="Calibri"/>
              </a:rPr>
              <a:t>🍺  Consumer</a:t>
            </a:r>
          </a:p>
        </p:txBody>
      </p:sp>
      <p:sp>
        <p:nvSpPr>
          <p:cNvPr id="51" name="Oval 50"/>
          <p:cNvSpPr/>
          <p:nvPr/>
        </p:nvSpPr>
        <p:spPr>
          <a:xfrm>
            <a:off x="5212080" y="1097280"/>
            <a:ext cx="1828800" cy="1645920"/>
          </a:xfrm>
          <a:prstGeom prst="ellipse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86400" y="1234440"/>
            <a:ext cx="1280160" cy="118872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69280" y="1371600"/>
            <a:ext cx="914400" cy="868680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029200" y="914400"/>
            <a:ext cx="128016" cy="128016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15200" y="777240"/>
            <a:ext cx="109728" cy="10972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577840" y="640080"/>
            <a:ext cx="146304" cy="14630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675120" y="685800"/>
            <a:ext cx="100584" cy="100584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303520" y="502920"/>
            <a:ext cx="82296" cy="82296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949440" y="548640"/>
            <a:ext cx="118872" cy="118872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46634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CHEERS!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B347"/>
                </a:solidFill>
                <a:latin typeface="Calibri"/>
              </a:rPr>
              <a:t>Now let the data do the talking.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5486400" cy="109728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890C"/>
                </a:solidFill>
                <a:latin typeface="Calibri"/>
              </a:rPr>
              <a:t>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4389120" cy="54864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50" b="0" i="1">
                <a:solidFill>
                  <a:srgbClr val="BBBBCC"/>
                </a:solidFill>
                <a:latin typeface="Calibri"/>
              </a:rPr>
              <a:t>"Beverage companies stock OUT during</a:t>
            </a:r>
          </a:p>
          <a:p>
            <a:pPr algn="l">
              <a:spcBef>
                <a:spcPts val="800"/>
              </a:spcBef>
            </a:pPr>
            <a:r>
              <a:rPr sz="1250" b="0" i="1">
                <a:solidFill>
                  <a:srgbClr val="BBBBCC"/>
                </a:solidFill>
                <a:latin typeface="Calibri"/>
              </a:rPr>
              <a:t>festivals — and stock UP during</a:t>
            </a:r>
          </a:p>
          <a:p>
            <a:pPr algn="l">
              <a:spcBef>
                <a:spcPts val="800"/>
              </a:spcBef>
            </a:pPr>
            <a:r>
              <a:rPr sz="1250" b="0" i="1">
                <a:solidFill>
                  <a:srgbClr val="BBBBCC"/>
                </a:solidFill>
                <a:latin typeface="Calibri"/>
              </a:rPr>
              <a:t>monsoons. The supply chain doesn't</a:t>
            </a:r>
          </a:p>
          <a:p>
            <a:pPr algn="l">
              <a:spcBef>
                <a:spcPts val="800"/>
              </a:spcBef>
            </a:pPr>
            <a:r>
              <a:rPr sz="1250" b="0" i="1">
                <a:solidFill>
                  <a:srgbClr val="BBBBCC"/>
                </a:solidFill>
                <a:latin typeface="Calibri"/>
              </a:rPr>
              <a:t>follow the customer."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— Industry Insight, Harsh Raj Pandey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57200"/>
            <a:ext cx="53949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57200"/>
            <a:ext cx="109728" cy="178308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5669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890C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0241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STOCKOUTS AT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417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Products missing exactly when demand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spikes 30–70% during Diwali &amp; summer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3949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109728" cy="1783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5328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900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OTIF BELOW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On-Time In-Full rate at ~78%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against 90%+ industry benchmark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389120"/>
            <a:ext cx="53949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109728" cy="178308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4988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960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560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LOGISTICS COST LEAK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349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28% of vehicle capacity goes empty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Every. Single. Trip.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99"/>
                </a:solidFill>
                <a:latin typeface="Calibri"/>
              </a:rPr>
              <a:t>What we built and what we analysed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11880" cy="21488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11880" cy="9144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3611880" cy="9144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39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890C"/>
                </a:solidFill>
                <a:latin typeface="Calibri"/>
              </a:rPr>
              <a:t>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ORDER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5 regions · 7 SKUs · 4 channels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508760"/>
            <a:ext cx="3611880" cy="21488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3611880" cy="9144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3566160"/>
            <a:ext cx="3611880" cy="9144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91639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B347"/>
                </a:solidFill>
                <a:latin typeface="Calibri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6032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DELIVERY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461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Vehicle util · Cost/case · OTD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508760"/>
            <a:ext cx="3611880" cy="21488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08760"/>
            <a:ext cx="361188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566160"/>
            <a:ext cx="361188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691639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9688"/>
                </a:solidFill>
                <a:latin typeface="Calibri"/>
              </a:rPr>
              <a:t>265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56032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FLEET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VEHICLES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2461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Breakdowns · CO2 · Maintenance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3611880" cy="21488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361188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361188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148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74C3C"/>
                </a:solidFill>
                <a:latin typeface="Calibri"/>
              </a:rPr>
              <a:t>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83479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COLD CHAIN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6927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Temp breaches · 5 supply stages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931920"/>
            <a:ext cx="3611880" cy="21488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3931920"/>
            <a:ext cx="3611880" cy="9144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5989320"/>
            <a:ext cx="3611880" cy="9144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1148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39600"/>
                </a:solidFill>
                <a:latin typeface="Calibri"/>
              </a:rPr>
              <a:t>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983479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FREIGHT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SHIPMENTS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66927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Road · Rail · Air · 3PL compare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931920"/>
            <a:ext cx="3611880" cy="21488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931920"/>
            <a:ext cx="3611880" cy="914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5989320"/>
            <a:ext cx="3611880" cy="914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41148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6C3A91"/>
                </a:solidFill>
                <a:latin typeface="Calibri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4983479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66927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Likelihood × Impact matrix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Seasonal demand patterns · SKU-level accuracy · MAPE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Forecast Accuracy by SKU (MAPE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Lower MAPE = Better accuracy  |  Target: &lt;10%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66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Light Beer 330ml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084832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084832"/>
            <a:ext cx="2044065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1937" y="21031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Lager 500ml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670048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670048"/>
            <a:ext cx="239649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4362" y="268833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3.4%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369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Strong Beer 500ml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255264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3255264"/>
            <a:ext cx="239649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4362" y="32735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3.4%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221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Wheat 330ml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840479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40479"/>
            <a:ext cx="253746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5332" y="38587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3.6%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074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Stout 650ml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4425696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40" y="4425696"/>
            <a:ext cx="2889885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757" y="44439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4.1%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926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IPA 330ml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5010912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20440" y="5010912"/>
            <a:ext cx="296037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8242" y="50292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4.2%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Premium Lager 330ml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5596127"/>
            <a:ext cx="3474720" cy="329184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20440" y="5596127"/>
            <a:ext cx="338328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1152" y="561441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  <a:latin typeface="Calibri"/>
              </a:rPr>
              <a:t>4.8%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13258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Seasonal Demand Patterns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1691640"/>
            <a:ext cx="4389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1691640"/>
            <a:ext cx="109728" cy="109728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79" y="17830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  <a:latin typeface="Calibri"/>
              </a:rPr>
              <a:t>OCT – DEC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103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890C"/>
                </a:solidFill>
                <a:latin typeface="Calibri"/>
              </a:rPr>
              <a:t>+30% to +70%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24963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Diwali · Christmas · New Year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2926080"/>
            <a:ext cx="4389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2926080"/>
            <a:ext cx="109728" cy="109728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30175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  <a:latin typeface="Calibri"/>
              </a:rPr>
              <a:t>MAR – APR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33375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9600"/>
                </a:solidFill>
                <a:latin typeface="Calibri"/>
              </a:rPr>
              <a:t>+20% to +45%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37307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Summer onset · IPL season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160520"/>
            <a:ext cx="4389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79" y="4160520"/>
            <a:ext cx="109728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79" y="4251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  <a:latin typeface="Calibri"/>
              </a:rPr>
              <a:t>JUL – AUG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4572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  <a:latin typeface="Calibri"/>
              </a:rPr>
              <a:t>-15% to -40%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49651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Heavy monsoon demand trough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5394960"/>
            <a:ext cx="4389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98079" y="5394960"/>
            <a:ext cx="109728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26679" y="54864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  <a:latin typeface="Calibri"/>
              </a:rPr>
              <a:t>YoY GROWTH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5806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AE60"/>
                </a:solidFill>
                <a:latin typeface="Calibri"/>
              </a:rPr>
              <a:t>+3% CAGR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61996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Consistent annual volume growth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INVENTORY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Economic Order Quantity · Safety Stock · Reorder Points · Stockout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1155680" cy="749808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890C"/>
                </a:solidFill>
                <a:latin typeface="Calibri"/>
              </a:rPr>
              <a:t>EOQ  =  √ ( 2  ×  Annual Demand  ×  Ordering Cost  ÷  Holding Cost per Unit 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3520440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042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7004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EEEEE"/>
                </a:solidFill>
                <a:latin typeface="Calibri"/>
              </a:rPr>
              <a:t>SKU-WH combos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30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Immediate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replenishment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240280"/>
            <a:ext cx="3520440" cy="192024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3042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7004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EEEEE"/>
                </a:solidFill>
                <a:latin typeface="Calibri"/>
              </a:rPr>
              <a:t>SKU-WH combos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730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Monitor &amp;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plan reorder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this week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240280"/>
            <a:ext cx="352044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3042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67004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EEEEE"/>
                </a:solidFill>
                <a:latin typeface="Calibri"/>
              </a:rPr>
              <a:t>SKU-WH combos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730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Stock levels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adequate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DDDDEE"/>
                </a:solidFill>
                <a:latin typeface="Calibri"/>
              </a:rPr>
              <a:t>for 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80"/>
            <a:ext cx="11155680" cy="233172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90C"/>
                </a:solidFill>
                <a:latin typeface="Calibri"/>
              </a:rPr>
              <a:t>KEY INVENTORY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→  East India warehouses hold 30% BELOW recommended safety stock — highest stockout risk zone</a:t>
            </a:r>
          </a:p>
          <a:p>
            <a:pPr algn="l">
              <a:spcBef>
                <a:spcPts val="8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→  Stout 650ml is over-ordered by 45% above EOQ — wasting INR 8–12L in holding costs annually</a:t>
            </a:r>
          </a:p>
          <a:p>
            <a:pPr algn="l">
              <a:spcBef>
                <a:spcPts val="8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→  Lager 500ml shows near-optimal ordering pattern — can serve as benchmark for other SKUs</a:t>
            </a:r>
          </a:p>
          <a:p>
            <a:pPr algn="l">
              <a:spcBef>
                <a:spcPts val="8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→  Recommendation: Vendor-Managed Inventory (VMI) for top 3 high-risk SKU-warehouse combos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LOGISTICS 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Route efficiency · Fleet utilization · Lead time · Cost per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65176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  <a:latin typeface="Calibri"/>
              </a:rPr>
              <a:t>OTD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1051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74C3C"/>
                </a:solidFill>
                <a:latin typeface="Calibri"/>
              </a:rPr>
              <a:t>79.4%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77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On-Time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371600"/>
            <a:ext cx="2651760" cy="9144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  <a:latin typeface="Calibri"/>
              </a:rPr>
              <a:t>AVG UTIL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181051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39600"/>
                </a:solidFill>
                <a:latin typeface="Calibri"/>
              </a:rPr>
              <a:t>72.3%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377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Vehicle load utilization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371600"/>
            <a:ext cx="265176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  <a:latin typeface="Calibri"/>
              </a:rPr>
              <a:t>COST/CASE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81051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  <a:latin typeface="Calibri"/>
              </a:rPr>
              <a:t>INR 31.9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377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Last-mile delivery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651760" cy="914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508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  <a:latin typeface="Calibri"/>
              </a:rPr>
              <a:t>FLEET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181051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C3A91"/>
                </a:solidFill>
                <a:latin typeface="Calibri"/>
              </a:rPr>
              <a:t>265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377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  <a:latin typeface="Calibri"/>
              </a:rPr>
              <a:t>Active vehicles tracked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9077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Freight Mode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273552"/>
            <a:ext cx="201168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009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273552"/>
            <a:ext cx="109728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30098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Cost/Case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273552"/>
            <a:ext cx="9144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33009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Transit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273552"/>
            <a:ext cx="9144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3009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OTD%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584448"/>
            <a:ext cx="201168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484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  <a:latin typeface="Calibri"/>
              </a:rPr>
              <a:t>Rail Freight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3584448"/>
            <a:ext cx="109728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364845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INR 20.4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584448"/>
            <a:ext cx="91440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3648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6.6d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584448"/>
            <a:ext cx="91440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3648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023360"/>
            <a:ext cx="20116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0873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88"/>
                </a:solidFill>
                <a:latin typeface="Calibri"/>
              </a:rPr>
              <a:t>Road (Mini-Truck)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4023360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408736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INR 46.4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4023360"/>
            <a:ext cx="9144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6200" y="40873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2.4d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4023360"/>
            <a:ext cx="9144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40873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462272"/>
            <a:ext cx="201168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526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39600"/>
                </a:solidFill>
                <a:latin typeface="Calibri"/>
              </a:rPr>
              <a:t>3PL Partner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4462272"/>
            <a:ext cx="109728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88920" y="452628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INR 46.6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4462272"/>
            <a:ext cx="91440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4526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3.5d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4462272"/>
            <a:ext cx="91440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4526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901183"/>
            <a:ext cx="20116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49651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74C3C"/>
                </a:solidFill>
                <a:latin typeface="Calibri"/>
              </a:rPr>
              <a:t>Road (Truck)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4901183"/>
            <a:ext cx="10972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88920" y="49651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INR 49.9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40480" y="4901183"/>
            <a:ext cx="9144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4965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4.1d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0" y="4901183"/>
            <a:ext cx="9144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49651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5340096"/>
            <a:ext cx="201168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54041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C3A91"/>
                </a:solidFill>
                <a:latin typeface="Calibri"/>
              </a:rPr>
              <a:t>Air Freight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5340096"/>
            <a:ext cx="109728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88920" y="540410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INR 182.1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5340096"/>
            <a:ext cx="91440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86200" y="5404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1.0d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54880" y="5340096"/>
            <a:ext cx="914400" cy="39319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5404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84%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360" y="2907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The Big Opportunity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3246120"/>
            <a:ext cx="548640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09360" y="3246120"/>
            <a:ext cx="91440" cy="1024128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92240" y="333756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890C"/>
                </a:solidFill>
                <a:latin typeface="Calibri"/>
              </a:rPr>
              <a:t>44%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09560" y="335584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Rail is cheaper than road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per case for 800km+ routes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4407408"/>
            <a:ext cx="548640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09360" y="4407408"/>
            <a:ext cx="91440" cy="10241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2240" y="4498848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74C3C"/>
                </a:solidFill>
                <a:latin typeface="Calibri"/>
              </a:rPr>
              <a:t>28%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09560" y="4517136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Vehicle capacity wasted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on every trip on average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5568696"/>
            <a:ext cx="548640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09360" y="5568696"/>
            <a:ext cx="91440" cy="10241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5660136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7AE60"/>
                </a:solidFill>
                <a:latin typeface="Calibri"/>
              </a:rPr>
              <a:t>-12%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09560" y="5678424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Freight savings possible via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888899"/>
                </a:solidFill>
                <a:latin typeface="Calibri"/>
              </a:rPr>
              <a:t>route consolidation alone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COLD CHAIN  &amp; 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Temperature compliance · Breach analysis · Supply chain risk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115568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  <a:latin typeface="Calibri"/>
              </a:rPr>
              <a:t>COLD CHAIN STATUS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377440" cy="23774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53%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18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BREACH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CCCC"/>
                </a:solidFill>
                <a:latin typeface="Calibri"/>
              </a:rPr>
              <a:t>Target: &lt;5%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83080"/>
            <a:ext cx="2560320" cy="5486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783080"/>
            <a:ext cx="3491865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92807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Retail Outlet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8297" y="1911095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61.1%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423160"/>
            <a:ext cx="2560320" cy="5486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423160"/>
            <a:ext cx="325755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5328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Regional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81" y="255117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57.0%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063239"/>
            <a:ext cx="2560320" cy="5486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3063239"/>
            <a:ext cx="3103245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172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Primary Warehouse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677" y="31912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54.3%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703320"/>
            <a:ext cx="2560320" cy="5486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703320"/>
            <a:ext cx="307467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3813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Brewery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1102" y="3831335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53.8%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343400"/>
            <a:ext cx="2560320" cy="54864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343400"/>
            <a:ext cx="2245995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44531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Distributor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2427" y="447141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347"/>
                </a:solidFill>
                <a:latin typeface="Calibri"/>
              </a:rPr>
              <a:t>39.3%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688"/>
                </a:solidFill>
                <a:latin typeface="Calibri"/>
              </a:rPr>
              <a:t>→  Retail outlet is the weakest stage (30%+ breach)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30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→  IoT temp sensors + driver training = immediate 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90C"/>
                </a:solidFill>
                <a:latin typeface="Calibri"/>
              </a:rPr>
              <a:t>RISK HEAT 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755648"/>
            <a:ext cx="5486400" cy="105156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755648"/>
            <a:ext cx="109728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1847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2194560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3225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risks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103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Immediate action required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944368"/>
            <a:ext cx="5486400" cy="105156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944368"/>
            <a:ext cx="109728" cy="105156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30358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600"/>
                </a:solidFill>
                <a:latin typeface="Calibri"/>
              </a:rPr>
              <a:t>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3383279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5112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risks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29183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Action within 30 days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33087"/>
            <a:ext cx="5486400" cy="105156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133087"/>
            <a:ext cx="109728" cy="105156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22452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90C"/>
                </a:solidFill>
                <a:latin typeface="Calibri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4572000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7000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risks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48055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Monitor quarterly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321808"/>
            <a:ext cx="5486400" cy="1051560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321808"/>
            <a:ext cx="109728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54132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Calibri"/>
              </a:rPr>
              <a:t>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5760720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8887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  <a:latin typeface="Calibri"/>
              </a:rPr>
              <a:t>risks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6692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  <a:latin typeface="Calibri"/>
              </a:rPr>
              <a:t>Annual review sufficient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DISTRIBUTOR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Weighted KPI scoring · OTIF · Fill Rate · Damage · TAT · Grade A–D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606040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447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EEEEE"/>
                </a:solidFill>
                <a:latin typeface="Calibri"/>
              </a:rPr>
              <a:t>distributors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DDDDEE"/>
                </a:solidFill>
                <a:latin typeface="Calibri"/>
              </a:rPr>
              <a:t>Excellent — maintain &amp; reward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606040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14447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783080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EEEEE"/>
                </a:solidFill>
                <a:latin typeface="Calibri"/>
              </a:rPr>
              <a:t>distributors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788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DDDDEE"/>
                </a:solidFill>
                <a:latin typeface="Calibri"/>
              </a:rPr>
              <a:t>Good — monitor quarterly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606040" cy="182880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4447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EEEEE"/>
                </a:solidFill>
                <a:latin typeface="Calibri"/>
              </a:rPr>
              <a:t>distributors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788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DDDDEE"/>
                </a:solidFill>
                <a:latin typeface="Calibri"/>
              </a:rPr>
              <a:t>Needs improvement — QBR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2606040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14447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GRADE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1783080"/>
            <a:ext cx="2377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EEEEE"/>
                </a:solidFill>
                <a:latin typeface="Calibri"/>
              </a:rPr>
              <a:t>distributors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788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DDDDEE"/>
                </a:solidFill>
                <a:latin typeface="Calibri"/>
              </a:rPr>
              <a:t>Critical — intervention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HOW WE SCORED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2606040" cy="5029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216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OTIF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7216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657600"/>
            <a:ext cx="260604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7216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Fill Rate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7216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657600"/>
            <a:ext cx="2606040" cy="502920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7216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Damage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7216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657600"/>
            <a:ext cx="2606040" cy="5029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37216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Avg TAT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37216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79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TOP PERFORMERS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645152"/>
            <a:ext cx="1371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6634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4645152"/>
            <a:ext cx="16459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8839" y="46634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4645152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59" y="46634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OTIF%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645152"/>
            <a:ext cx="7772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46634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4645152"/>
            <a:ext cx="6858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59" y="46634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956048"/>
            <a:ext cx="137160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02005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DIST-EAS-01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03120" y="4956048"/>
            <a:ext cx="164592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48839" y="502005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North India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4956048"/>
            <a:ext cx="82296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59" y="5020056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89.0%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956048"/>
            <a:ext cx="77724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17720" y="5020056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90.1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49240" y="4956048"/>
            <a:ext cx="685800" cy="429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59" y="5020056"/>
            <a:ext cx="594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431536"/>
            <a:ext cx="13716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49554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DIST-EAS-03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3120" y="5431536"/>
            <a:ext cx="16459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48839" y="549554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West India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49039" y="5431536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94759" y="5495544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95.0%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5431536"/>
            <a:ext cx="77724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17720" y="5495544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89.9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5431536"/>
            <a:ext cx="685800" cy="429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94959" y="5495544"/>
            <a:ext cx="594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907024"/>
            <a:ext cx="137160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59710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DIST-CEN-03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03120" y="5907024"/>
            <a:ext cx="164592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48839" y="59710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West India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49039" y="5907024"/>
            <a:ext cx="82296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94759" y="5971032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93.0%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5907024"/>
            <a:ext cx="77724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5971032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87.3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907024"/>
            <a:ext cx="685800" cy="429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94959" y="5971032"/>
            <a:ext cx="594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279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NEEDS INTERVENTION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4645152"/>
            <a:ext cx="1371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46520" y="46634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72400" y="4645152"/>
            <a:ext cx="16459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18120" y="46634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18320" y="4645152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64040" y="46634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OTIF%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241280" y="4645152"/>
            <a:ext cx="7772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87000" y="46634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018520" y="4645152"/>
            <a:ext cx="6858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064240" y="46634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4956048"/>
            <a:ext cx="137160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46520" y="502005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DIST-NOR-03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72400" y="4956048"/>
            <a:ext cx="164592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18120" y="502005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West India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18320" y="4956048"/>
            <a:ext cx="82296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64040" y="5020056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62.9%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241280" y="4956048"/>
            <a:ext cx="77724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87000" y="5020056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68.6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018520" y="4956048"/>
            <a:ext cx="685800" cy="429768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64240" y="5020056"/>
            <a:ext cx="594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00800" y="5431536"/>
            <a:ext cx="13716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46520" y="549554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DIST-SOU-03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72400" y="5431536"/>
            <a:ext cx="16459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818120" y="549554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Central India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18320" y="5431536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64040" y="5495544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62.7%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41280" y="5431536"/>
            <a:ext cx="77724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87000" y="5495544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72.4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018520" y="5431536"/>
            <a:ext cx="685800" cy="4297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064240" y="5495544"/>
            <a:ext cx="594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00800" y="5907024"/>
            <a:ext cx="137160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46520" y="59710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DIST-EAS-04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72400" y="5907024"/>
            <a:ext cx="164592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18120" y="59710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East India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18320" y="5907024"/>
            <a:ext cx="82296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64040" y="5971032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70.2%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241280" y="5907024"/>
            <a:ext cx="777240" cy="42976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287000" y="5971032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  <a:latin typeface="Calibri"/>
              </a:rPr>
              <a:t>72.4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018520" y="5907024"/>
            <a:ext cx="685800" cy="4297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0" y="5971032"/>
            <a:ext cx="594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96112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24128"/>
            <a:ext cx="11155680" cy="987552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24128"/>
            <a:ext cx="109728" cy="9875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Demand spikes 30–70% in festive season but inventory doesn't scale. Stockouts happen at the highest-revenue moments.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39696"/>
            <a:ext cx="11155680" cy="987552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39696"/>
            <a:ext cx="109728" cy="987552"/>
          </a:xfrm>
          <a:prstGeom prst="rect">
            <a:avLst/>
          </a:prstGeom>
          <a:solidFill>
            <a:srgbClr val="F3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600"/>
                </a:solidFill>
                <a:latin typeface="Calibri"/>
              </a:rPr>
              <a:t>LOGISTICS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28% of vehicle capacity wasted per trip. East India lead time is 2.2x the national average. Rail freight 44% cheaper but only 15% utilized.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55264"/>
            <a:ext cx="11155680" cy="987552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55264"/>
            <a:ext cx="109728" cy="9875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28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0C"/>
                </a:solidFill>
                <a:latin typeface="Calibri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9417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Stout 650ml over-ordered 45% above EOQ. East India holds 30% below recommended safety stock. INR 8–12L in avoidable holding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70832"/>
            <a:ext cx="11155680" cy="987552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70832"/>
            <a:ext cx="109728" cy="9875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43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COLD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97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18% temperature breach rate against &lt;5% target. Retail outlet stage accounts for 30%+ of all breaches. Total cost impact: INR 3.5L+.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11155680" cy="987552"/>
          </a:xfrm>
          <a:prstGeom prst="rect">
            <a:avLst/>
          </a:prstGeom>
          <a:solidFill>
            <a:srgbClr val="0F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109728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59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253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INR 55–80 Lakhs in annual savings identified across freight optimization, inventory right-sizing, and distributor performance improvement.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2E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3 high-impact actions · 90-day execution roadmap · INR 55–80L savings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1155680" cy="457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11556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1155680" cy="73152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572768"/>
            <a:ext cx="640080" cy="640080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5506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361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Dynamic Safety Stock + Seasonal 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65960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Build 25–30% pre-season inventory for top SKUs by September each year. Implement EOQ-guided ordering. Pilot VMI with top 3 suppliers.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627632"/>
            <a:ext cx="3017520" cy="50292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682496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INR 15–20L / yr  |  +8–10% OTIF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111556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154680"/>
            <a:ext cx="11155680" cy="73152"/>
          </a:xfrm>
          <a:prstGeom prst="rect">
            <a:avLst/>
          </a:prstGeom>
          <a:solidFill>
            <a:srgbClr val="0F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355848"/>
            <a:ext cx="640080" cy="640080"/>
          </a:xfrm>
          <a:prstGeom prst="ellipse">
            <a:avLst/>
          </a:prstGeom>
          <a:solidFill>
            <a:srgbClr val="0F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43814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3192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East India Logistics Hub Upgrade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49040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Kolkata consolidation hub + long-term rail freight contracts. GPS tracking for all East India routes. Lead time target: 3.5 days.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410712"/>
            <a:ext cx="3017520" cy="502920"/>
          </a:xfrm>
          <a:prstGeom prst="rect">
            <a:avLst/>
          </a:prstGeom>
          <a:solidFill>
            <a:srgbClr val="0F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3465576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INR 25–35L / yr  |  -2.7 days lead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111556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937760"/>
            <a:ext cx="111556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5138928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22122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1023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Distributor Performance Improvement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532120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Quarterly business reviews for Grade C &amp; D distributors. Tiered incentive scheme for Grade A. Digital order management tools rollout.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5193792"/>
            <a:ext cx="30175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5248656"/>
            <a:ext cx="2880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INR 30–40L / yr  |  OTIF: 76% → 88%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ctagon 1"/>
          <p:cNvSpPr/>
          <p:nvPr/>
        </p:nvSpPr>
        <p:spPr>
          <a:xfrm>
            <a:off x="6858000" y="0"/>
            <a:ext cx="5330952" cy="6858000"/>
          </a:xfrm>
          <a:prstGeom prst="octagon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37960"/>
            <a:ext cx="11731752" cy="109728"/>
          </a:xfrm>
          <a:prstGeom prst="rect">
            <a:avLst/>
          </a:prstGeom>
          <a:solidFill>
            <a:srgbClr val="E88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890C"/>
                </a:solidFill>
                <a:latin typeface="Calibri"/>
              </a:rPr>
              <a:t>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7315200" cy="54864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Harsh Raj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221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Supply Chain Analyst  ·  FMCG &amp; Beverage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074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0C"/>
                </a:solidFill>
                <a:latin typeface="Calibri"/>
              </a:rPr>
              <a:t>GitHub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407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github.com/Harsh258-collab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0C"/>
                </a:solidFill>
                <a:latin typeface="Calibri"/>
              </a:rPr>
              <a:t>LinkedIn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937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linkedin.com/in/harsh-raj-pandey-1a0319325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68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890C"/>
                </a:solidFill>
                <a:latin typeface="Calibri"/>
              </a:rPr>
              <a:t>Email  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4681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harsh258.collab@gmail.com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645920"/>
            <a:ext cx="1280160" cy="2011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15400" y="1417320"/>
            <a:ext cx="1371600" cy="411480"/>
          </a:xfrm>
          <a:prstGeom prst="ellipse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06840" y="128016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1207008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22992" y="1920240"/>
            <a:ext cx="457200" cy="914400"/>
          </a:xfrm>
          <a:prstGeom prst="ellipse">
            <a:avLst/>
          </a:prstGeom>
          <a:noFill/>
          <a:ln w="762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3474720"/>
            <a:ext cx="1280160" cy="164592"/>
          </a:xfrm>
          <a:prstGeom prst="rect">
            <a:avLst/>
          </a:prstGeom>
          <a:solidFill>
            <a:srgbClr val="B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47"/>
                </a:solidFill>
                <a:latin typeface="Calibri"/>
              </a:rPr>
              <a:t>"Good supply chains don't just move products — they build trust."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9"/>
                </a:solidFill>
                <a:latin typeface="Calibri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BeerFlow - Beverage Supply Chain Optimization</dc:title>
  <dc:subject>Supply Chain Analytics | FMCG | Beverage</dc:subject>
  <dc:creator>Harsh Raj Pandey</dc:creator>
  <cp:keywords/>
  <dc:description>generated using python-pptx</dc:description>
  <cp:lastModifiedBy>Harsh Raj Pandey</cp:lastModifiedBy>
  <cp:revision>1</cp:revision>
  <dcterms:created xsi:type="dcterms:W3CDTF">2026-09-10T09:00:00Z</dcterms:created>
  <dcterms:modified xsi:type="dcterms:W3CDTF">2026-09-20T20:30:00Z</dcterms:modified>
  <cp:category/>
</cp:coreProperties>
</file>