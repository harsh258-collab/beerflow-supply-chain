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1" d="100"/>
          <a:sy n="61" d="100"/>
        </p:scale>
        <p:origin x="485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846320" cy="685800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4846320" y="0"/>
            <a:ext cx="164592" cy="685800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5010912" y="0"/>
            <a:ext cx="7178040" cy="50292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010912" y="6217920"/>
            <a:ext cx="7178040" cy="64008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9202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>
                <a:solidFill>
                  <a:srgbClr val="FFD54F"/>
                </a:solidFill>
                <a:latin typeface="Calibri"/>
              </a:rPr>
              <a:t>BeerFlow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2834640"/>
            <a:ext cx="4206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FFFFFF"/>
                </a:solidFill>
                <a:latin typeface="Calibri"/>
              </a:rPr>
              <a:t>Supply Chain Analytics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3520440"/>
            <a:ext cx="3474720" cy="36576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0040" y="3657600"/>
            <a:ext cx="4206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Harsh Raj Pandey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411480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BBBBCC"/>
                </a:solidFill>
                <a:latin typeface="Calibri"/>
              </a:rPr>
              <a:t>Supply Chain &amp; Operations Analytics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892040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BBFF"/>
                </a:solidFill>
                <a:latin typeface="Calibri"/>
              </a:rPr>
              <a:t>linkedin.com/in/harsh-raj-pandey-1a0319325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" y="5239512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BBFF"/>
                </a:solidFill>
                <a:latin typeface="Calibri"/>
              </a:rPr>
              <a:t>pandey.monti24@gmail.com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" y="5586984"/>
            <a:ext cx="4206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ABBFF"/>
                </a:solidFill>
                <a:latin typeface="Calibri"/>
              </a:rPr>
              <a:t>github.com/Harsh258-collab/beerflow-supply-chain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91440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  <a:latin typeface="Calibri"/>
              </a:rPr>
              <a:t>PORTFOLIO PROJECT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685800"/>
            <a:ext cx="64922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212121"/>
                </a:solidFill>
                <a:latin typeface="Calibri"/>
              </a:rPr>
              <a:t>An end-to-end data analytics project
on India's beverage supply chain —
from warehouse to last-mile delivery.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12080" y="2423160"/>
            <a:ext cx="2194560" cy="1143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285232" y="2514600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A237E"/>
                </a:solidFill>
                <a:latin typeface="Calibri"/>
              </a:rPr>
              <a:t>2,000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5232" y="3044952"/>
            <a:ext cx="20482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Calibri"/>
              </a:rPr>
              <a:t>Orders Analysed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2423160"/>
            <a:ext cx="2194560" cy="1143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708392" y="2514600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A237E"/>
                </a:solidFill>
                <a:latin typeface="Calibri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08392" y="3044952"/>
            <a:ext cx="20482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Calibri"/>
              </a:rPr>
              <a:t>Beverage SKUs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212080" y="3794760"/>
            <a:ext cx="2194560" cy="1143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85232" y="3886200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A237E"/>
                </a:solidFill>
                <a:latin typeface="Calibri"/>
              </a:rPr>
              <a:t>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85232" y="4416552"/>
            <a:ext cx="20482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Calibri"/>
              </a:rPr>
              <a:t>Cities Covered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35240" y="3794760"/>
            <a:ext cx="2194560" cy="114300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08392" y="3886200"/>
            <a:ext cx="204825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1A237E"/>
                </a:solidFill>
                <a:latin typeface="Calibr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08392" y="4416552"/>
            <a:ext cx="20482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57575"/>
                </a:solidFill>
                <a:latin typeface="Calibri"/>
              </a:rPr>
              <a:t>Warehouses Tracked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6291072"/>
            <a:ext cx="6766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237E"/>
                </a:solidFill>
                <a:latin typeface="Calibri"/>
              </a:rPr>
              <a:t>Tools: Python  |  Excel  |  PowerPoint  |  Supply Chain Analytics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50" accel="5000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50" accel="5000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7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200"/>
                            </p:stCondLst>
                            <p:childTnLst>
                              <p:par>
                                <p:cTn id="20" presetID="2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35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5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95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24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20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60" dur="350"/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61" dur="350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350"/>
                                        <p:tgtEl>
                                          <p:spTgt spid="1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27" presetClass="entr" presetSubtype="0" fill="hold" grpId="0" nodeType="withEffect">
                                  <p:stCondLst>
                                    <p:cond delay="18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68" dur="350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69" dur="350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0" dur="350"/>
                                        <p:tgtEl>
                                          <p:spTgt spid="21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27" presetClass="entr" presetSubtype="0" fill="hold" grpId="0" nodeType="withEffect">
                                  <p:stCondLst>
                                    <p:cond delay="36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6" dur="350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77" dur="350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8" dur="350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27" presetClass="entr" presetSubtype="0" fill="hold" grpId="0" nodeType="withEffect">
                                  <p:stCondLst>
                                    <p:cond delay="54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84" dur="350"/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5" dur="350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6" dur="350"/>
                                        <p:tgtEl>
                                          <p:spTgt spid="2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0" fill="hold">
                            <p:stCondLst>
                              <p:cond delay="2455"/>
                            </p:stCondLst>
                            <p:childTnLst>
                              <p:par>
                                <p:cTn id="91" presetID="10" presetClass="entr" presetSubtype="0" fill="hold" grpId="0" nodeType="after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 animBg="1"/>
      <p:bldP spid="11" grpId="0"/>
      <p:bldP spid="12" grpId="0"/>
      <p:bldP spid="13" grpId="0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8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237E"/>
                </a:solidFill>
                <a:latin typeface="Calibri"/>
              </a:rPr>
              <a:t>The Problem I Set Out to 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2588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212121"/>
                </a:solidFill>
                <a:latin typeface="Calibri"/>
              </a:rPr>
              <a:t>Beverage supply chains lose millions every year to 3 preventable problems: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3566160" cy="420624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237E"/>
                </a:solidFill>
                <a:latin typeface="Calibri"/>
              </a:rPr>
              <a:t>Orders Delivered Late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01568"/>
            <a:ext cx="3200400" cy="3200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35204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Customers cancel. Retailers lose trust.
No one knows WHY deliveries fail until
it is too late.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0" y="1920240"/>
            <a:ext cx="3566160" cy="4206240"/>
          </a:xfrm>
          <a:prstGeom prst="roundRect">
            <a:avLst/>
          </a:prstGeom>
          <a:solidFill>
            <a:srgbClr val="FFF8E1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297680" y="2103120"/>
            <a:ext cx="457200" cy="45720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29768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237E"/>
                </a:solidFill>
                <a:latin typeface="Calibri"/>
              </a:rPr>
              <a:t>Warehouses Overstocked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3401568"/>
            <a:ext cx="3200400" cy="3200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97680" y="35204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Cash gets locked in excess inventory.
Some SKUs sit for weeks. Others run out
during peak season.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1920240"/>
            <a:ext cx="3566160" cy="420624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8046720" y="2103120"/>
            <a:ext cx="457200" cy="457200"/>
          </a:xfrm>
          <a:prstGeom prst="ellipse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046720" y="210312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0" y="274320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A237E"/>
                </a:solidFill>
                <a:latin typeface="Calibri"/>
              </a:rPr>
              <a:t>Logistics Money Wasted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46720" y="3401568"/>
            <a:ext cx="3200400" cy="3200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046720" y="3520440"/>
            <a:ext cx="3200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Trucks run half-empty. Cold chain breaks.
Rail is 44% cheaper than road — but no
one tracks the gap.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BeerFlow was built to answer these questions using real data — no guesswork.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50" accel="50000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50" accel="50000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900"/>
                            </p:stCondLst>
                            <p:childTnLst>
                              <p:par>
                                <p:cTn id="42" presetID="2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4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1" dur="3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0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250" accel="50000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6" dur="250" accel="50000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7" dur="5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500"/>
                            </p:stCondLst>
                            <p:childTnLst>
                              <p:par>
                                <p:cTn id="7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900"/>
                            </p:stCondLst>
                            <p:childTnLst>
                              <p:par>
                                <p:cTn id="79" presetID="2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1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3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8" dur="3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1200"/>
                            </p:stCondLst>
                            <p:childTnLst>
                              <p:par>
                                <p:cTn id="9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7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" dur="250" accel="50000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2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250" accel="50000" fill="hold">
                                          <p:stCondLst>
                                            <p:cond delay="25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4" dur="5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1" fill="hold">
                            <p:stCondLst>
                              <p:cond delay="500"/>
                            </p:stCondLst>
                            <p:childTnLst>
                              <p:par>
                                <p:cTn id="1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900"/>
                            </p:stCondLst>
                            <p:childTnLst>
                              <p:par>
                                <p:cTn id="116" presetID="2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8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3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5" dur="3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6" fill="hold">
                            <p:stCondLst>
                              <p:cond delay="1200"/>
                            </p:stCondLst>
                            <p:childTnLst>
                              <p:par>
                                <p:cTn id="12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25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2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9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 animBg="1"/>
      <p:bldP spid="7" grpId="0"/>
      <p:bldP spid="8" grpId="0"/>
      <p:bldP spid="9" grpId="0" animBg="1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/>
      <p:bldP spid="17" grpId="0" animBg="1"/>
      <p:bldP spid="18" grpId="0" animBg="1"/>
      <p:bldP spid="19" grpId="0"/>
      <p:bldP spid="20" grpId="0"/>
      <p:bldP spid="21" grpId="0" animBg="1"/>
      <p:bldP spid="22" grpId="0"/>
      <p:bldP spid="23" grpId="0" animBg="1"/>
      <p:bldP spid="2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286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D54F"/>
                </a:solidFill>
                <a:latin typeface="Calibri"/>
              </a:rPr>
              <a:t>What I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Calibri"/>
              </a:rPr>
              <a:t>A complete analytics system covering every stage of the beverage supply chain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20040" y="1508760"/>
            <a:ext cx="2103120" cy="4846320"/>
          </a:xfrm>
          <a:prstGeom prst="roundRect">
            <a:avLst/>
          </a:prstGeom>
          <a:solidFill>
            <a:srgbClr val="283C9B"/>
          </a:solidFill>
          <a:ln w="19050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2103120" cy="109728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20040" y="16916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54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2860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Demand
Forecasting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200400"/>
            <a:ext cx="1463040" cy="2743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11480" y="33375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Predicted future sales
for 7 SKUs across
5 regions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651760" y="1508760"/>
            <a:ext cx="2103120" cy="4846320"/>
          </a:xfrm>
          <a:prstGeom prst="roundRect">
            <a:avLst/>
          </a:prstGeom>
          <a:solidFill>
            <a:srgbClr val="283C9B"/>
          </a:solidFill>
          <a:ln w="19050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651760" y="1508760"/>
            <a:ext cx="2103120" cy="109728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651760" y="16916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54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2860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Inventory
Optimization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71800" y="3200400"/>
            <a:ext cx="1463040" cy="2743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33375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Applied EOQ model to
find ideal stock level
per SKU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79" y="1508760"/>
            <a:ext cx="2103120" cy="4846320"/>
          </a:xfrm>
          <a:prstGeom prst="roundRect">
            <a:avLst/>
          </a:prstGeom>
          <a:solidFill>
            <a:srgbClr val="283C9B"/>
          </a:solidFill>
          <a:ln w="19050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983479" y="1508760"/>
            <a:ext cx="2103120" cy="109728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983479" y="16916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54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19" y="22860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Logistics
Analysis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303519" y="3200400"/>
            <a:ext cx="1463040" cy="2743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074919" y="33375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Compared road vs rail,
tracked freight cost
and delivery speed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199" y="1508760"/>
            <a:ext cx="2103120" cy="4846320"/>
          </a:xfrm>
          <a:prstGeom prst="roundRect">
            <a:avLst/>
          </a:prstGeom>
          <a:solidFill>
            <a:srgbClr val="283C9B"/>
          </a:solidFill>
          <a:ln w="19050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7315199" y="1508760"/>
            <a:ext cx="2103120" cy="109728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199" y="16916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54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39" y="22860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Distributor
Scorecards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635239" y="3200400"/>
            <a:ext cx="1463040" cy="2743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06639" y="33375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Graded 20 distributors
on OTIF, Fill Rate
and Damage Rate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46919" y="1508760"/>
            <a:ext cx="2103120" cy="4846320"/>
          </a:xfrm>
          <a:prstGeom prst="roundRect">
            <a:avLst/>
          </a:prstGeom>
          <a:solidFill>
            <a:srgbClr val="283C9B"/>
          </a:solidFill>
          <a:ln w="19050">
            <a:solidFill>
              <a:srgbClr val="FFD5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9646919" y="1508760"/>
            <a:ext cx="2103120" cy="109728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9646919" y="1691640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FFD54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38359" y="2286000"/>
            <a:ext cx="1920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Cold Chain
&amp; Fleet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59" y="3200400"/>
            <a:ext cx="1463040" cy="27432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738359" y="3337560"/>
            <a:ext cx="192024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Mapped temperature
breaches and empty
truck miles wasted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74320" y="6519672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A237E"/>
                </a:solidFill>
                <a:latin typeface="Calibri"/>
              </a:rPr>
              <a:t>Output: 2 Excel dashboards  |  3 PowerPoint presentations  |  Python analytics pipeline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50" accel="5000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7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50" accel="5000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7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7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4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7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4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6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1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7" fill="hold">
                      <p:stCondLst>
                        <p:cond delay="indefinite"/>
                      </p:stCondLst>
                      <p:childTnLst>
                        <p:par>
                          <p:cTn id="128" fill="hold">
                            <p:stCondLst>
                              <p:cond delay="0"/>
                            </p:stCondLst>
                            <p:childTnLst>
                              <p:par>
                                <p:cTn id="129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1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8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25" presetClass="entr" presetSubtype="0" fill="hold" grpId="0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56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8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9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0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1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3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5" grpId="0" animBg="1"/>
      <p:bldP spid="6" grpId="0"/>
      <p:bldP spid="7" grpId="0"/>
      <p:bldP spid="8" grpId="0" animBg="1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/>
      <p:bldP spid="16" grpId="0" animBg="1"/>
      <p:bldP spid="17" grpId="0" animBg="1"/>
      <p:bldP spid="18" grpId="0"/>
      <p:bldP spid="19" grpId="0"/>
      <p:bldP spid="20" grpId="0" animBg="1"/>
      <p:bldP spid="21" grpId="0"/>
      <p:bldP spid="22" grpId="0" animBg="1"/>
      <p:bldP spid="23" grpId="0" animBg="1"/>
      <p:bldP spid="24" grpId="0"/>
      <p:bldP spid="25" grpId="0"/>
      <p:bldP spid="26" grpId="0" animBg="1"/>
      <p:bldP spid="27" grpId="0"/>
      <p:bldP spid="28" grpId="0" animBg="1"/>
      <p:bldP spid="29" grpId="0" animBg="1"/>
      <p:bldP spid="30" grpId="0"/>
      <p:bldP spid="31" grpId="0"/>
      <p:bldP spid="32" grpId="0" animBg="1"/>
      <p:bldP spid="33" grpId="0"/>
      <p:bldP spid="34" grpId="0" animBg="1"/>
      <p:bldP spid="3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D54F"/>
                </a:solidFill>
                <a:latin typeface="Calibri"/>
              </a:rPr>
              <a:t>4 Key Analytical Findings from the Project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28600" y="1234440"/>
            <a:ext cx="5715000" cy="2377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28600" y="1234440"/>
            <a:ext cx="109728" cy="237744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29768" y="13258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  <a:latin typeface="Calibri"/>
              </a:rPr>
              <a:t>1 in 6 orders arrived late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9768" y="1892808"/>
            <a:ext cx="3108960" cy="329184"/>
          </a:xfrm>
          <a:prstGeom prst="round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29768" y="189280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OTIF = 83.4%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" y="2313432"/>
            <a:ext cx="5394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Calibri"/>
              </a:rPr>
              <a:t>16.6% of 2,000 orders failed on-time OR in-full.
On-Time: 87.8%. In-Full: 95.0%.
North India had the worst delivery gaps.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234440"/>
            <a:ext cx="5715000" cy="2377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234440"/>
            <a:ext cx="109728" cy="2377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64808" y="132588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  <a:latin typeface="Calibri"/>
              </a:rPr>
              <a:t>INR 8.76 Lakh locked in excess stock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64808" y="1892808"/>
            <a:ext cx="3108960" cy="329184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64808" y="189280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EOQ model freed working capital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2313432"/>
            <a:ext cx="5394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Calibri"/>
              </a:rPr>
              <a:t>Optimal reorder quantities: 32,450 cases -&gt; 27,580.
A 15% reduction in order size freed INR 8.76L
in cash that was tied up in inventory.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28600" y="3840480"/>
            <a:ext cx="5715000" cy="2377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006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28600" y="3840480"/>
            <a:ext cx="109728" cy="2377440"/>
          </a:xfrm>
          <a:prstGeom prst="rect">
            <a:avLst/>
          </a:prstGeom>
          <a:solidFill>
            <a:srgbClr val="006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29768" y="393192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  <a:latin typeface="Calibri"/>
              </a:rPr>
              <a:t>Rail is 44% cheaper — but underused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" y="4498848"/>
            <a:ext cx="3108960" cy="329184"/>
          </a:xfrm>
          <a:prstGeom prst="roundRect">
            <a:avLst/>
          </a:prstGeom>
          <a:solidFill>
            <a:srgbClr val="006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29768" y="449884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INR 21.12L annual saving available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9768" y="4919472"/>
            <a:ext cx="5394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Calibri"/>
              </a:rPr>
              <a:t>Road: INR 14.80/case  |  Rail: INR 8.20/case.
On 32,000 cases per route, shifting to rail
saves INR 21.12L annually.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840480"/>
            <a:ext cx="5715000" cy="2377440"/>
          </a:xfrm>
          <a:prstGeom prst="roundRect">
            <a:avLst/>
          </a:prstGeom>
          <a:solidFill>
            <a:srgbClr val="FFFFFF"/>
          </a:solidFill>
          <a:ln w="31750">
            <a:solidFill>
              <a:srgbClr val="6A1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63640" y="3840480"/>
            <a:ext cx="109728" cy="2377440"/>
          </a:xfrm>
          <a:prstGeom prst="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64808" y="3931920"/>
            <a:ext cx="5394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12121"/>
                </a:solidFill>
                <a:latin typeface="Calibri"/>
              </a:rPr>
              <a:t>18% of cold chain shipments breached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64808" y="4498848"/>
            <a:ext cx="3108960" cy="329184"/>
          </a:xfrm>
          <a:prstGeom prst="roundRect">
            <a:avLst/>
          </a:prstGeom>
          <a:solidFill>
            <a:srgbClr val="6A1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64808" y="4498848"/>
            <a:ext cx="31089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Calibri"/>
              </a:rPr>
              <a:t>Retail handover = worst stage (34.8%)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64808" y="4919472"/>
            <a:ext cx="539496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12121"/>
                </a:solidFill>
                <a:latin typeface="Calibri"/>
              </a:rPr>
              <a:t>Cold chain failure risks spoilage and returns.
Retail handover is the #1 pain point — the moment
goods leave refrigerated transport.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9" dur="450"/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20" dur="450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1" dur="450"/>
                                        <p:tgtEl>
                                          <p:spTgt spid="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2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" dur="3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450"/>
                            </p:stCondLst>
                            <p:childTnLst>
                              <p:par>
                                <p:cTn id="3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100"/>
                            </p:stCondLst>
                            <p:childTnLst>
                              <p:par>
                                <p:cTn id="4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7" presetClass="entr" presetSubtype="0" fill="hold" grpId="0" nodeType="withEffect">
                                  <p:stCondLst>
                                    <p:cond delay="20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46" dur="450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47" dur="450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48" dur="450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25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1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4" dur="3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8" dur="3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175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3" fill="hold">
                            <p:stCondLst>
                              <p:cond delay="2100"/>
                            </p:stCondLst>
                            <p:childTnLst>
                              <p:par>
                                <p:cTn id="6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2400"/>
                            </p:stCondLst>
                            <p:childTnLst>
                              <p:par>
                                <p:cTn id="6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5" dur="450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76" dur="450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77" dur="450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" presetID="2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0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3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7" dur="3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25650"/>
                            </p:stCondLst>
                            <p:childTnLst>
                              <p:par>
                                <p:cTn id="8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26000"/>
                            </p:stCondLst>
                            <p:childTnLst>
                              <p:par>
                                <p:cTn id="9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6" fill="hold">
                            <p:stCondLst>
                              <p:cond delay="26300"/>
                            </p:stCondLst>
                            <p:childTnLst>
                              <p:par>
                                <p:cTn id="9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7" presetClass="entr" presetSubtype="0" fill="hold" grpId="0" nodeType="withEffect">
                                  <p:stCondLst>
                                    <p:cond delay="20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02" dur="450"/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03" dur="450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04" dur="450"/>
                                        <p:tgtEl>
                                          <p:spTgt spid="2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25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7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9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0" dur="3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1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14" dur="3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33475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9" fill="hold">
                            <p:stCondLst>
                              <p:cond delay="33825"/>
                            </p:stCondLst>
                            <p:childTnLst>
                              <p:par>
                                <p:cTn id="12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3" fill="hold">
                            <p:stCondLst>
                              <p:cond delay="34125"/>
                            </p:stCondLst>
                            <p:childTnLst>
                              <p:par>
                                <p:cTn id="1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 animBg="1"/>
      <p:bldP spid="14" grpId="0"/>
      <p:bldP spid="15" grpId="0"/>
      <p:bldP spid="16" grpId="0" animBg="1"/>
      <p:bldP spid="17" grpId="0" animBg="1"/>
      <p:bldP spid="18" grpId="0"/>
      <p:bldP spid="19" grpId="0" animBg="1"/>
      <p:bldP spid="20" grpId="0"/>
      <p:bldP spid="21" grpId="0"/>
      <p:bldP spid="22" grpId="0" animBg="1"/>
      <p:bldP spid="23" grpId="0" animBg="1"/>
      <p:bldP spid="2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8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237E"/>
                </a:solidFill>
                <a:latin typeface="Calibri"/>
              </a:rPr>
              <a:t>My Skills &amp; Toolbox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2344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237E"/>
                </a:solidFill>
                <a:latin typeface="Calibri"/>
              </a:rPr>
              <a:t>Technical Skills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78308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Calibri"/>
              </a:rPr>
              <a:t>Python (pandas, numpy, openpyxl, python-pptx)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617720" y="1783080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A237E"/>
                </a:solidFill>
                <a:latin typeface="Calibri"/>
              </a:rPr>
              <a:t>Advanced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258568"/>
            <a:ext cx="5120640" cy="1463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65760" y="2258568"/>
            <a:ext cx="5029200" cy="146304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26609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Calibri"/>
              </a:rPr>
              <a:t>Excel (Pivots, VLOOKUP, Charts, Dashboards)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2660904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1A237E"/>
                </a:solidFill>
                <a:latin typeface="Calibri"/>
              </a:rPr>
              <a:t>Advanced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3136392"/>
            <a:ext cx="5120640" cy="1463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136392"/>
            <a:ext cx="4754880" cy="146304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53872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Calibri"/>
              </a:rPr>
              <a:t>Supply Chain KPIs — OTIF, MAPE, EOQ, Fill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538728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696E"/>
                </a:solidFill>
                <a:latin typeface="Calibri"/>
              </a:rPr>
              <a:t>Applied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4014216"/>
            <a:ext cx="5120640" cy="1463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5760" y="4014216"/>
            <a:ext cx="4389120" cy="146304"/>
          </a:xfrm>
          <a:prstGeom prst="rect">
            <a:avLst/>
          </a:prstGeom>
          <a:solidFill>
            <a:srgbClr val="006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5760" y="441655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Calibri"/>
              </a:rPr>
              <a:t>Data Cleaning &amp; Pipeline Building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441655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00696E"/>
                </a:solidFill>
                <a:latin typeface="Calibri"/>
              </a:rPr>
              <a:t>Applied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4892040"/>
            <a:ext cx="5120640" cy="1463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65760" y="4892040"/>
            <a:ext cx="4114800" cy="146304"/>
          </a:xfrm>
          <a:prstGeom prst="rect">
            <a:avLst/>
          </a:prstGeom>
          <a:solidFill>
            <a:srgbClr val="006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65760" y="529437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12121"/>
                </a:solidFill>
                <a:latin typeface="Calibri"/>
              </a:rPr>
              <a:t>Statistical Forecasting (Time Series)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5294376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2E7D32"/>
                </a:solidFill>
                <a:latin typeface="Calibri"/>
              </a:rPr>
              <a:t>Intermediate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5769864"/>
            <a:ext cx="5120640" cy="14630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5769864"/>
            <a:ext cx="3657600" cy="146304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852160" y="1188720"/>
            <a:ext cx="36576" cy="539496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35040" y="1234440"/>
            <a:ext cx="5943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A237E"/>
                </a:solidFill>
                <a:latin typeface="Calibri"/>
              </a:rPr>
              <a:t>Domain Knowledge</a:t>
            </a:r>
          </a:p>
        </p:txBody>
      </p:sp>
      <p:sp>
        <p:nvSpPr>
          <p:cNvPr id="27" name="Oval 26"/>
          <p:cNvSpPr/>
          <p:nvPr/>
        </p:nvSpPr>
        <p:spPr>
          <a:xfrm>
            <a:off x="6035040" y="1965959"/>
            <a:ext cx="256032" cy="256032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46520" y="1874519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Demand Forecasting &amp; MAPE Analysis</a:t>
            </a:r>
          </a:p>
        </p:txBody>
      </p:sp>
      <p:sp>
        <p:nvSpPr>
          <p:cNvPr id="29" name="Oval 28"/>
          <p:cNvSpPr/>
          <p:nvPr/>
        </p:nvSpPr>
        <p:spPr>
          <a:xfrm>
            <a:off x="6035040" y="2606040"/>
            <a:ext cx="256032" cy="256032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46520" y="251460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Inventory Optimisation (EOQ model)</a:t>
            </a:r>
          </a:p>
        </p:txBody>
      </p:sp>
      <p:sp>
        <p:nvSpPr>
          <p:cNvPr id="31" name="Oval 30"/>
          <p:cNvSpPr/>
          <p:nvPr/>
        </p:nvSpPr>
        <p:spPr>
          <a:xfrm>
            <a:off x="6035040" y="3246119"/>
            <a:ext cx="256032" cy="256032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46520" y="3154679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Distributor Performance Scorecards</a:t>
            </a:r>
          </a:p>
        </p:txBody>
      </p:sp>
      <p:sp>
        <p:nvSpPr>
          <p:cNvPr id="33" name="Oval 32"/>
          <p:cNvSpPr/>
          <p:nvPr/>
        </p:nvSpPr>
        <p:spPr>
          <a:xfrm>
            <a:off x="6035040" y="3886199"/>
            <a:ext cx="256032" cy="256032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446520" y="3794759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Freight Cost Benchmarking (Road vs Rail)</a:t>
            </a:r>
          </a:p>
        </p:txBody>
      </p:sp>
      <p:sp>
        <p:nvSpPr>
          <p:cNvPr id="35" name="Oval 34"/>
          <p:cNvSpPr/>
          <p:nvPr/>
        </p:nvSpPr>
        <p:spPr>
          <a:xfrm>
            <a:off x="6035040" y="4526280"/>
            <a:ext cx="256032" cy="256032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446520" y="4434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Cold Chain Monitoring</a:t>
            </a:r>
          </a:p>
        </p:txBody>
      </p:sp>
      <p:sp>
        <p:nvSpPr>
          <p:cNvPr id="37" name="Oval 36"/>
          <p:cNvSpPr/>
          <p:nvPr/>
        </p:nvSpPr>
        <p:spPr>
          <a:xfrm>
            <a:off x="6035040" y="5166360"/>
            <a:ext cx="256032" cy="256032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6446520" y="507492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Fleet Utilisation Analysis</a:t>
            </a:r>
          </a:p>
        </p:txBody>
      </p:sp>
      <p:sp>
        <p:nvSpPr>
          <p:cNvPr id="39" name="Oval 38"/>
          <p:cNvSpPr/>
          <p:nvPr/>
        </p:nvSpPr>
        <p:spPr>
          <a:xfrm>
            <a:off x="6035040" y="5806439"/>
            <a:ext cx="256032" cy="256032"/>
          </a:xfrm>
          <a:prstGeom prst="ellipse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446520" y="5714999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12121"/>
                </a:solidFill>
                <a:latin typeface="Calibri"/>
              </a:rPr>
              <a:t>Logistics KPI Dashboards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Every metric in this project is derived from the dataset — nothing assumed or made up.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5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3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3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3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350"/>
                            </p:stCondLst>
                            <p:childTnLst>
                              <p:par>
                                <p:cTn id="4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2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550"/>
                            </p:stCondLst>
                            <p:childTnLst>
                              <p:par>
                                <p:cTn id="44" presetID="2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6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3" dur="6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50"/>
                            </p:stCondLst>
                            <p:childTnLst>
                              <p:par>
                                <p:cTn id="6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2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6" fill="hold">
                            <p:stCondLst>
                              <p:cond delay="550"/>
                            </p:stCondLst>
                            <p:childTnLst>
                              <p:par>
                                <p:cTn id="67" presetID="2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6" dur="6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35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2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9" fill="hold">
                            <p:stCondLst>
                              <p:cond delay="550"/>
                            </p:stCondLst>
                            <p:childTnLst>
                              <p:par>
                                <p:cTn id="90" presetID="2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2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6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9" dur="6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0" fill="hold">
                      <p:stCondLst>
                        <p:cond delay="indefinite"/>
                      </p:stCondLst>
                      <p:childTnLst>
                        <p:par>
                          <p:cTn id="101" fill="hold">
                            <p:stCondLst>
                              <p:cond delay="0"/>
                            </p:stCondLst>
                            <p:childTnLst>
                              <p:par>
                                <p:cTn id="10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8" fill="hold">
                            <p:stCondLst>
                              <p:cond delay="350"/>
                            </p:stCondLst>
                            <p:childTnLst>
                              <p:par>
                                <p:cTn id="10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2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550"/>
                            </p:stCondLst>
                            <p:childTnLst>
                              <p:par>
                                <p:cTn id="113" presetID="2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5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6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6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9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0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2" dur="6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3" fill="hold">
                      <p:stCondLst>
                        <p:cond delay="indefinite"/>
                      </p:stCondLst>
                      <p:childTnLst>
                        <p:par>
                          <p:cTn id="124" fill="hold">
                            <p:stCondLst>
                              <p:cond delay="0"/>
                            </p:stCondLst>
                            <p:childTnLst>
                              <p:par>
                                <p:cTn id="1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1" fill="hold">
                            <p:stCondLst>
                              <p:cond delay="350"/>
                            </p:stCondLst>
                            <p:childTnLst>
                              <p:par>
                                <p:cTn id="1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2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5" fill="hold">
                            <p:stCondLst>
                              <p:cond delay="550"/>
                            </p:stCondLst>
                            <p:childTnLst>
                              <p:par>
                                <p:cTn id="136" presetID="2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8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0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6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5" dur="6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6" fill="hold">
                      <p:stCondLst>
                        <p:cond delay="indefinite"/>
                      </p:stCondLst>
                      <p:childTnLst>
                        <p:par>
                          <p:cTn id="147" fill="hold">
                            <p:stCondLst>
                              <p:cond delay="0"/>
                            </p:stCondLst>
                            <p:childTnLst>
                              <p:par>
                                <p:cTn id="148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50" dur="250"/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51" dur="250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52" dur="250"/>
                                        <p:tgtEl>
                                          <p:spTgt spid="2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3875"/>
                            </p:stCondLst>
                            <p:childTnLst>
                              <p:par>
                                <p:cTn id="157" presetID="27" presetClass="entr" presetSubtype="0" fill="hold" grpId="0" nodeType="afterEffect">
                                  <p:stCondLst>
                                    <p:cond delay="8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59" dur="250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60" dur="250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61" dur="250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5" fill="hold">
                            <p:stCondLst>
                              <p:cond delay="7955"/>
                            </p:stCondLst>
                            <p:childTnLst>
                              <p:par>
                                <p:cTn id="166" presetID="27" presetClass="entr" presetSubtype="0" fill="hold" grpId="0" nodeType="afterEffect">
                                  <p:stCondLst>
                                    <p:cond delay="8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68" dur="250"/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69" dur="250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0" dur="250"/>
                                        <p:tgtEl>
                                          <p:spTgt spid="32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4" fill="hold">
                            <p:stCondLst>
                              <p:cond delay="12160"/>
                            </p:stCondLst>
                            <p:childTnLst>
                              <p:par>
                                <p:cTn id="175" presetID="27" presetClass="entr" presetSubtype="0" fill="hold" grpId="0" nodeType="afterEffect">
                                  <p:stCondLst>
                                    <p:cond delay="8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77" dur="250"/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78" dur="250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79" dur="250"/>
                                        <p:tgtEl>
                                          <p:spTgt spid="3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2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3" fill="hold">
                            <p:stCondLst>
                              <p:cond delay="16740"/>
                            </p:stCondLst>
                            <p:childTnLst>
                              <p:par>
                                <p:cTn id="184" presetID="27" presetClass="entr" presetSubtype="0" fill="hold" grpId="0" nodeType="afterEffect">
                                  <p:stCondLst>
                                    <p:cond delay="8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86" dur="250"/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87" dur="250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88" dur="250"/>
                                        <p:tgtEl>
                                          <p:spTgt spid="3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19320"/>
                            </p:stCondLst>
                            <p:childTnLst>
                              <p:par>
                                <p:cTn id="193" presetID="27" presetClass="entr" presetSubtype="0" fill="hold" grpId="0" nodeType="afterEffect">
                                  <p:stCondLst>
                                    <p:cond delay="8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95" dur="250"/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96" dur="250"/>
                                        <p:tgtEl>
                                          <p:spTgt spid="38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97" dur="250"/>
                                        <p:tgtEl>
                                          <p:spTgt spid="38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1" fill="hold">
                            <p:stCondLst>
                              <p:cond delay="22525"/>
                            </p:stCondLst>
                            <p:childTnLst>
                              <p:par>
                                <p:cTn id="202" presetID="27" presetClass="entr" presetSubtype="0" fill="hold" grpId="0" nodeType="afterEffect">
                                  <p:stCondLst>
                                    <p:cond delay="8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204" dur="250"/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205" dur="250"/>
                                        <p:tgtEl>
                                          <p:spTgt spid="4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06" dur="250"/>
                                        <p:tgtEl>
                                          <p:spTgt spid="4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7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/>
      <p:bldP spid="18" grpId="0"/>
      <p:bldP spid="19" grpId="0" animBg="1"/>
      <p:bldP spid="20" grpId="0" animBg="1"/>
      <p:bldP spid="21" grpId="0"/>
      <p:bldP spid="22" grpId="0"/>
      <p:bldP spid="23" grpId="0" animBg="1"/>
      <p:bldP spid="24" grpId="0" animBg="1"/>
      <p:bldP spid="25" grpId="0" animBg="1"/>
      <p:bldP spid="26" grpId="0"/>
      <p:bldP spid="27" grpId="0" animBg="1"/>
      <p:bldP spid="28" grpId="0"/>
      <p:bldP spid="29" grpId="0" animBg="1"/>
      <p:bldP spid="30" grpId="0"/>
      <p:bldP spid="31" grpId="0" animBg="1"/>
      <p:bldP spid="32" grpId="0"/>
      <p:bldP spid="33" grpId="0" animBg="1"/>
      <p:bldP spid="34" grpId="0"/>
      <p:bldP spid="35" grpId="0" animBg="1"/>
      <p:bldP spid="36" grpId="0"/>
      <p:bldP spid="37" grpId="0" animBg="1"/>
      <p:bldP spid="38" grpId="0"/>
      <p:bldP spid="39" grpId="0" animBg="1"/>
      <p:bldP spid="40" grpId="0"/>
      <p:bldP spid="41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D54F"/>
                </a:solidFill>
                <a:latin typeface="Calibri"/>
              </a:rPr>
              <a:t>Project Impact — Before vs After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1234440"/>
            <a:ext cx="2377440" cy="41148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2788920" y="1234440"/>
            <a:ext cx="4160520" cy="411480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086600" y="1234440"/>
            <a:ext cx="4846320" cy="41148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20040" y="126187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Area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126187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BEFORE (Status Quo)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261872"/>
            <a:ext cx="4663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AFTER (BeerFlow Analytics)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37360"/>
            <a:ext cx="2377440" cy="713232"/>
          </a:xfrm>
          <a:prstGeom prst="rect">
            <a:avLst/>
          </a:prstGeom>
          <a:solidFill>
            <a:srgbClr val="FFF8E1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2788920" y="1737360"/>
            <a:ext cx="4160520" cy="713232"/>
          </a:xfrm>
          <a:prstGeom prst="rect">
            <a:avLst/>
          </a:prstGeom>
          <a:solidFill>
            <a:srgbClr val="FFF8E1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086600" y="1737360"/>
            <a:ext cx="4846320" cy="713232"/>
          </a:xfrm>
          <a:prstGeom prst="rect">
            <a:avLst/>
          </a:prstGeom>
          <a:solidFill>
            <a:srgbClr val="FFF8E1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1783080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37E"/>
                </a:solidFill>
                <a:latin typeface="Calibri"/>
              </a:rPr>
              <a:t>OTIF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1783080"/>
            <a:ext cx="3931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0000"/>
                </a:solidFill>
                <a:latin typeface="Calibri"/>
              </a:rPr>
              <a:t>No visibility — problems found after complaints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78040" y="1783080"/>
            <a:ext cx="4572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7D32"/>
                </a:solidFill>
                <a:latin typeface="Calibri"/>
              </a:rPr>
              <a:t>83.4% OTIF tracked; region-level gaps mapped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496312"/>
            <a:ext cx="23774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2788920" y="2496312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7086600" y="2496312"/>
            <a:ext cx="48463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2542032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37E"/>
                </a:solidFill>
                <a:latin typeface="Calibri"/>
              </a:rPr>
              <a:t>Inventory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2542032"/>
            <a:ext cx="3931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0000"/>
                </a:solidFill>
                <a:latin typeface="Calibri"/>
              </a:rPr>
              <a:t>Order quantities set by gut feeling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2542032"/>
            <a:ext cx="4572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7D32"/>
                </a:solidFill>
                <a:latin typeface="Calibri"/>
              </a:rPr>
              <a:t>EOQ model -&gt; INR 8.76L working capital freed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255263"/>
            <a:ext cx="2377440" cy="713232"/>
          </a:xfrm>
          <a:prstGeom prst="rect">
            <a:avLst/>
          </a:prstGeom>
          <a:solidFill>
            <a:srgbClr val="FFF8E1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2788920" y="3255263"/>
            <a:ext cx="4160520" cy="713232"/>
          </a:xfrm>
          <a:prstGeom prst="rect">
            <a:avLst/>
          </a:prstGeom>
          <a:solidFill>
            <a:srgbClr val="FFF8E1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7086600" y="3255263"/>
            <a:ext cx="4846320" cy="713232"/>
          </a:xfrm>
          <a:prstGeom prst="rect">
            <a:avLst/>
          </a:prstGeom>
          <a:solidFill>
            <a:srgbClr val="FFF8E1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3300983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37E"/>
                </a:solidFill>
                <a:latin typeface="Calibri"/>
              </a:rPr>
              <a:t>Freight Mode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3300983"/>
            <a:ext cx="3931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0000"/>
                </a:solidFill>
                <a:latin typeface="Calibri"/>
              </a:rPr>
              <a:t>Always using road transport by default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78040" y="3300983"/>
            <a:ext cx="4572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7D32"/>
                </a:solidFill>
                <a:latin typeface="Calibri"/>
              </a:rPr>
              <a:t>Rail 44% cheaper; INR 21.12L annual saving identified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014215"/>
            <a:ext cx="23774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2788920" y="4014215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7086600" y="4014215"/>
            <a:ext cx="48463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4059935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37E"/>
                </a:solidFill>
                <a:latin typeface="Calibri"/>
              </a:rPr>
              <a:t>Distributors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4059935"/>
            <a:ext cx="3931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0000"/>
                </a:solidFill>
                <a:latin typeface="Calibri"/>
              </a:rPr>
              <a:t>All 20 treated the same — no grading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78040" y="4059935"/>
            <a:ext cx="4572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7D32"/>
                </a:solidFill>
                <a:latin typeface="Calibri"/>
              </a:rPr>
              <a:t>Graded A to D; bottom performers flagged for review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4773168"/>
            <a:ext cx="2377440" cy="713232"/>
          </a:xfrm>
          <a:prstGeom prst="rect">
            <a:avLst/>
          </a:prstGeom>
          <a:solidFill>
            <a:srgbClr val="FFF8E1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2788920" y="4773168"/>
            <a:ext cx="4160520" cy="713232"/>
          </a:xfrm>
          <a:prstGeom prst="rect">
            <a:avLst/>
          </a:prstGeom>
          <a:solidFill>
            <a:srgbClr val="FFF8E1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7086600" y="4773168"/>
            <a:ext cx="4846320" cy="713232"/>
          </a:xfrm>
          <a:prstGeom prst="rect">
            <a:avLst/>
          </a:prstGeom>
          <a:solidFill>
            <a:srgbClr val="FFF8E1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4818888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37E"/>
                </a:solidFill>
                <a:latin typeface="Calibri"/>
              </a:rPr>
              <a:t>Cold Chain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4818888"/>
            <a:ext cx="3931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0000"/>
                </a:solidFill>
                <a:latin typeface="Calibri"/>
              </a:rPr>
              <a:t>Temperature breaches unknown until delivery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78040" y="4818888"/>
            <a:ext cx="4572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7D32"/>
                </a:solidFill>
                <a:latin typeface="Calibri"/>
              </a:rPr>
              <a:t>18.2% breach rate mapped; retail handover = 34.8%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5532119"/>
            <a:ext cx="237744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ectangle 40"/>
          <p:cNvSpPr/>
          <p:nvPr/>
        </p:nvSpPr>
        <p:spPr>
          <a:xfrm>
            <a:off x="2788920" y="5532119"/>
            <a:ext cx="41605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41"/>
          <p:cNvSpPr/>
          <p:nvPr/>
        </p:nvSpPr>
        <p:spPr>
          <a:xfrm>
            <a:off x="7086600" y="5532119"/>
            <a:ext cx="4846320" cy="713232"/>
          </a:xfrm>
          <a:prstGeom prst="rect">
            <a:avLst/>
          </a:prstGeom>
          <a:solidFill>
            <a:srgbClr val="FFFFFF"/>
          </a:solidFill>
          <a:ln w="63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365760" y="5577839"/>
            <a:ext cx="21945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A237E"/>
                </a:solidFill>
                <a:latin typeface="Calibri"/>
              </a:rPr>
              <a:t>Demand Planning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80360" y="5577839"/>
            <a:ext cx="393192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B0000"/>
                </a:solidFill>
                <a:latin typeface="Calibri"/>
              </a:rPr>
              <a:t>No SKU-level forecasting done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178040" y="5577839"/>
            <a:ext cx="457200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E7D32"/>
                </a:solidFill>
                <a:latin typeface="Calibri"/>
              </a:rPr>
              <a:t>MAPE 9.2% (best SKU) — actionable replenishment plan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5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3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35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25" presetClass="entr" presetSubtype="0" fill="hold" grpId="0" nodeType="withEffect">
                                  <p:stCondLst>
                                    <p:cond delay="38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3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4" dur="35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5" presetClass="entr" presetSubtype="0" fill="hold" grpId="0" nodeType="withEffect">
                                  <p:stCondLst>
                                    <p:cond delay="46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7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8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35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35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5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7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8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35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4" dur="35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5" presetClass="entr" presetSubtype="0" fill="hold" grpId="0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7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1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3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4" dur="35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5" presetClass="entr" presetSubtype="0" fill="hold" grpId="0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7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8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3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35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9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0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1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5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86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25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89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6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25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99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5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6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6" fill="hold">
                      <p:stCondLst>
                        <p:cond delay="indefinite"/>
                      </p:stCondLst>
                      <p:childTnLst>
                        <p:par>
                          <p:cTn id="117" fill="hold">
                            <p:stCondLst>
                              <p:cond delay="0"/>
                            </p:stCondLst>
                            <p:childTnLst>
                              <p:par>
                                <p:cTn id="118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0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1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6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7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5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0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1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7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" presetID="25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0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1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6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7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7" fill="hold">
                      <p:stCondLst>
                        <p:cond delay="indefinite"/>
                      </p:stCondLst>
                      <p:childTnLst>
                        <p:par>
                          <p:cTn id="158" fill="hold">
                            <p:stCondLst>
                              <p:cond delay="0"/>
                            </p:stCondLst>
                            <p:childTnLst>
                              <p:par>
                                <p:cTn id="159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1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3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4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6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8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" presetID="25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1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78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9" presetID="25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81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3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4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6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8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8" fill="hold">
                      <p:stCondLst>
                        <p:cond delay="indefinite"/>
                      </p:stCondLst>
                      <p:childTnLst>
                        <p:par>
                          <p:cTn id="199" fill="hold">
                            <p:stCondLst>
                              <p:cond delay="0"/>
                            </p:stCondLst>
                            <p:childTnLst>
                              <p:par>
                                <p:cTn id="200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02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4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5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6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8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09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0" presetID="25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2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4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5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6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8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19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25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2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4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5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6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8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29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8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9" fill="hold">
                      <p:stCondLst>
                        <p:cond delay="indefinite"/>
                      </p:stCondLst>
                      <p:childTnLst>
                        <p:par>
                          <p:cTn id="240" fill="hold">
                            <p:stCondLst>
                              <p:cond delay="0"/>
                            </p:stCondLst>
                            <p:childTnLst>
                              <p:par>
                                <p:cTn id="241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5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6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8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9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50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1" presetID="25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5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6" dur="4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8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9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0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1" presetID="25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6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5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6" dur="4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8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9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0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2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6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0" fill="hold">
                      <p:stCondLst>
                        <p:cond delay="indefinite"/>
                      </p:stCondLst>
                      <p:childTnLst>
                        <p:par>
                          <p:cTn id="281" fill="hold">
                            <p:stCondLst>
                              <p:cond delay="0"/>
                            </p:stCondLst>
                            <p:childTnLst>
                              <p:par>
                                <p:cTn id="282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6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7" dur="4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8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9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0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1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25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2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9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6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7" dur="4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8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9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0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1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25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3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5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6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7" dur="4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8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9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0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11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2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3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4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5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7" grpId="0"/>
      <p:bldP spid="8" grpId="0"/>
      <p:bldP spid="9" grpId="0"/>
      <p:bldP spid="10" grpId="0" animBg="1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 animBg="1"/>
      <p:bldP spid="19" grpId="0"/>
      <p:bldP spid="20" grpId="0"/>
      <p:bldP spid="21" grpId="0"/>
      <p:bldP spid="22" grpId="0" animBg="1"/>
      <p:bldP spid="23" grpId="0" animBg="1"/>
      <p:bldP spid="24" grpId="0" animBg="1"/>
      <p:bldP spid="25" grpId="0"/>
      <p:bldP spid="26" grpId="0"/>
      <p:bldP spid="27" grpId="0"/>
      <p:bldP spid="28" grpId="0" animBg="1"/>
      <p:bldP spid="29" grpId="0" animBg="1"/>
      <p:bldP spid="30" grpId="0" animBg="1"/>
      <p:bldP spid="31" grpId="0"/>
      <p:bldP spid="32" grpId="0"/>
      <p:bldP spid="33" grpId="0"/>
      <p:bldP spid="34" grpId="0" animBg="1"/>
      <p:bldP spid="35" grpId="0" animBg="1"/>
      <p:bldP spid="36" grpId="0" animBg="1"/>
      <p:bldP spid="37" grpId="0"/>
      <p:bldP spid="38" grpId="0"/>
      <p:bldP spid="39" grpId="0"/>
      <p:bldP spid="40" grpId="0" animBg="1"/>
      <p:bldP spid="41" grpId="0" animBg="1"/>
      <p:bldP spid="42" grpId="0" animBg="1"/>
      <p:bldP spid="43" grpId="0"/>
      <p:bldP spid="44" grpId="0"/>
      <p:bldP spid="4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FFD5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64592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A237E"/>
                </a:solidFill>
                <a:latin typeface="Calibri"/>
              </a:rPr>
              <a:t>Distributor Performance Scorecard — 20 Partners Evaluated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887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212121"/>
                </a:solidFill>
                <a:latin typeface="Calibri"/>
              </a:rPr>
              <a:t>Each distributor scored on 4 KPIs. Combined into a single Performance Score. Graded A to D.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691640"/>
            <a:ext cx="11430000" cy="685800"/>
          </a:xfrm>
          <a:prstGeom prst="round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D54F"/>
                </a:solidFill>
                <a:latin typeface="Consolas"/>
              </a:rPr>
              <a:t>Score = (OTIF x 0.4) + (Fill Rate x 0.3) + ((1 - Damage Rate) x 0.2) + ((1 - TAT_norm) x 0.1)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514600"/>
            <a:ext cx="2651760" cy="32004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371600" y="2697480"/>
            <a:ext cx="640080" cy="64008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371600" y="26974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2E7D32"/>
                </a:solidFill>
                <a:latin typeface="Calibri"/>
              </a:rPr>
              <a:t>3 Distributors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977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Score &gt;= 90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434840"/>
            <a:ext cx="1920240" cy="2743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02920" y="45262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Calibri"/>
              </a:rPr>
              <a:t>Excellent partners.
High OTIF, low damage.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46120" y="2514600"/>
            <a:ext cx="2651760" cy="32004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0069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251960" y="2697480"/>
            <a:ext cx="640080" cy="640080"/>
          </a:xfrm>
          <a:prstGeom prst="ellipse">
            <a:avLst/>
          </a:prstGeom>
          <a:solidFill>
            <a:srgbClr val="006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251960" y="26974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696E"/>
                </a:solidFill>
                <a:latin typeface="Calibri"/>
              </a:rPr>
              <a:t>14 Distributors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977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Score 75-89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11880" y="4434840"/>
            <a:ext cx="1920240" cy="27432"/>
          </a:xfrm>
          <a:prstGeom prst="rect">
            <a:avLst/>
          </a:prstGeom>
          <a:solidFill>
            <a:srgbClr val="0069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45262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Calibri"/>
              </a:rPr>
              <a:t>Good — minor gaps.
Most distributors here.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26480" y="2514600"/>
            <a:ext cx="2651760" cy="32004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7132320" y="2697480"/>
            <a:ext cx="640080" cy="64008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32320" y="26974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65100"/>
                </a:solidFill>
                <a:latin typeface="Calibri"/>
              </a:rPr>
              <a:t>2 Distributors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3977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Score 60-74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92240" y="4434840"/>
            <a:ext cx="1920240" cy="27432"/>
          </a:xfrm>
          <a:prstGeom prst="rect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263640" y="45262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Calibri"/>
              </a:rPr>
              <a:t>Needs improvement.
Review SLA compliance.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006840" y="2514600"/>
            <a:ext cx="2651760" cy="3200400"/>
          </a:xfrm>
          <a:prstGeom prst="roundRect">
            <a:avLst/>
          </a:prstGeom>
          <a:solidFill>
            <a:srgbClr val="FFFFFF"/>
          </a:solidFill>
          <a:ln w="381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Oval 28"/>
          <p:cNvSpPr/>
          <p:nvPr/>
        </p:nvSpPr>
        <p:spPr>
          <a:xfrm>
            <a:off x="10012680" y="2697480"/>
            <a:ext cx="640080" cy="640080"/>
          </a:xfrm>
          <a:prstGeom prst="ellipse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12680" y="2697480"/>
            <a:ext cx="640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C62828"/>
                </a:solidFill>
                <a:latin typeface="Calibri"/>
              </a:rPr>
              <a:t>1 Distributors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3977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757575"/>
                </a:solidFill>
                <a:latin typeface="Calibri"/>
              </a:rPr>
              <a:t>Score &lt; 60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372600" y="4434840"/>
            <a:ext cx="1920240" cy="27432"/>
          </a:xfrm>
          <a:prstGeom prst="rect">
            <a:avLst/>
          </a:prstGeom>
          <a:solidFill>
            <a:srgbClr val="C628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9144000" y="452628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12121"/>
                </a:solidFill>
                <a:latin typeface="Calibri"/>
              </a:rPr>
              <a:t>Critical risk.
Priority for action.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65760" y="63550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Calibri"/>
              </a:rPr>
              <a:t>This scorecard helps operations teams focus on distributors that need attention most.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5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3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300" accel="50000" fill="hold">
                                          <p:stCondLst>
                                            <p:cond delay="3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6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6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3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350" accel="5000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7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3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350" accel="50000" fill="hold">
                                          <p:stCondLst>
                                            <p:cond delay="3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7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35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36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7" dur="400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60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61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62" dur="4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1" fill="hold">
                      <p:stCondLst>
                        <p:cond delay="indefinite"/>
                      </p:stCondLst>
                      <p:childTnLst>
                        <p:par>
                          <p:cTn id="82" fill="hold">
                            <p:stCondLst>
                              <p:cond delay="0"/>
                            </p:stCondLst>
                            <p:childTnLst>
                              <p:par>
                                <p:cTn id="83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85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6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7" dur="4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3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6" fill="hold">
                      <p:stCondLst>
                        <p:cond delay="indefinite"/>
                      </p:stCondLst>
                      <p:childTnLst>
                        <p:par>
                          <p:cTn id="107" fill="hold">
                            <p:stCondLst>
                              <p:cond delay="0"/>
                            </p:stCondLst>
                            <p:childTnLst>
                              <p:par>
                                <p:cTn id="108" presetID="27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10" dur="4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11" dur="4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12" dur="4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16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24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32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48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25" presetClass="entr" presetSubtype="0" fill="hold" grpId="1" nodeType="withEffect">
                                  <p:stCondLst>
                                    <p:cond delay="150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3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4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5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6" dur="4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20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9" dur="200" accel="500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0" dur="4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" presetID="10" presetClass="entr" presetSubtype="0" fill="hold" grpId="1" nodeType="withEffect">
                                  <p:stCondLst>
                                    <p:cond delay="170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6" grpId="0"/>
      <p:bldP spid="7" grpId="0" animBg="1"/>
      <p:bldP spid="8" grpId="0" animBg="1"/>
      <p:bldP spid="9" grpId="0"/>
      <p:bldP spid="10" grpId="0"/>
      <p:bldP spid="11" grpId="0"/>
      <p:bldP spid="12" grpId="0" animBg="1"/>
      <p:bldP spid="13" grpId="0"/>
      <p:bldP spid="15" grpId="0" animBg="1"/>
      <p:bldP spid="16" grpId="0"/>
      <p:bldP spid="17" grpId="0"/>
      <p:bldP spid="18" grpId="0"/>
      <p:bldP spid="19" grpId="0" animBg="1"/>
      <p:bldP spid="20" grpId="0"/>
      <p:bldP spid="21" grpId="0" animBg="1"/>
      <p:bldP spid="23" grpId="0"/>
      <p:bldP spid="24" grpId="0"/>
      <p:bldP spid="25" grpId="0"/>
      <p:bldP spid="26" grpId="0" animBg="1"/>
      <p:bldP spid="27" grpId="0"/>
      <p:bldP spid="28" grpId="0" animBg="1"/>
      <p:bldP spid="29" grpId="0" animBg="1"/>
      <p:bldP spid="30" grpId="0"/>
      <p:bldP spid="31" grpId="0"/>
      <p:bldP spid="32" grpId="0"/>
      <p:bldP spid="33" grpId="0" animBg="1"/>
      <p:bldP spid="34" grpId="0"/>
      <p:bldP spid="35" grpId="0" animBg="1"/>
      <p:bldP spid="35" grpId="1" animBg="1"/>
      <p:bldP spid="36" grpId="0"/>
      <p:bldP spid="36" grpId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5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828800" y="960120"/>
            <a:ext cx="8869680" cy="5394960"/>
          </a:xfrm>
          <a:prstGeom prst="rect">
            <a:avLst/>
          </a:prstGeom>
          <a:solidFill>
            <a:srgbClr val="1A23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1645920" y="731520"/>
            <a:ext cx="8869680" cy="53949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645920" y="914400"/>
            <a:ext cx="88696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A237E"/>
                </a:solidFill>
                <a:latin typeface="Calibri"/>
              </a:rPr>
              <a:t>Let's Connect</a:t>
            </a:r>
          </a:p>
        </p:txBody>
      </p:sp>
      <p:sp>
        <p:nvSpPr>
          <p:cNvPr id="5" name="Rectangle 4"/>
          <p:cNvSpPr/>
          <p:nvPr/>
        </p:nvSpPr>
        <p:spPr>
          <a:xfrm>
            <a:off x="4937760" y="1691640"/>
            <a:ext cx="2286000" cy="73152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645920" y="1828800"/>
            <a:ext cx="8869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12121"/>
                </a:solidFill>
                <a:latin typeface="Calibri"/>
              </a:rPr>
              <a:t>Harsh Raj Pandey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377440"/>
            <a:ext cx="8869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>
                <a:solidFill>
                  <a:srgbClr val="757575"/>
                </a:solidFill>
                <a:latin typeface="Calibri"/>
              </a:rPr>
              <a:t>Supply Chain &amp; Operations Analytics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2971800"/>
            <a:ext cx="7635240" cy="5029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377440" y="3017520"/>
            <a:ext cx="7452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237E"/>
                </a:solidFill>
                <a:latin typeface="Calibri"/>
              </a:rPr>
              <a:t>pandey.monti24@gmail.com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86000" y="3630168"/>
            <a:ext cx="7635240" cy="5029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377440" y="3675888"/>
            <a:ext cx="7452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237E"/>
                </a:solidFill>
                <a:latin typeface="Calibri"/>
              </a:rPr>
              <a:t>linkedin.com/in/harsh-raj-pandey-1a0319325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86000" y="4288536"/>
            <a:ext cx="7635240" cy="502920"/>
          </a:xfrm>
          <a:prstGeom prst="roundRect">
            <a:avLst/>
          </a:prstGeom>
          <a:solidFill>
            <a:srgbClr val="FFF8E1"/>
          </a:solidFill>
          <a:ln w="1905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377440" y="4334256"/>
            <a:ext cx="7452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1A237E"/>
                </a:solidFill>
                <a:latin typeface="Calibri"/>
              </a:rPr>
              <a:t>github.com/Harsh258-collab/beerflow-supply-chain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1A237E"/>
                </a:solidFill>
                <a:latin typeface="Calibri"/>
              </a:rPr>
              <a:t>Open to: Supply Chain Analyst  |  Operations Analyst  |  Demand Planning  |  Logistics Analytics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9" presetID="27" presetClass="entr" presetSubtype="0" fill="hold" grpId="0" nodeType="afterEffect">
                                  <p:stCondLst>
                                    <p:cond delay="10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11" dur="600"/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12" dur="600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13" dur="600"/>
                                        <p:tgtEl>
                                          <p:spTgt spid="4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4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0"/>
                            </p:stCondLst>
                            <p:childTnLst>
                              <p:par>
                                <p:cTn id="19" presetID="25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3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50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150" accel="50000" fill="hold">
                                          <p:stCondLst>
                                            <p:cond delay="15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8" dur="30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5300"/>
                            </p:stCondLst>
                            <p:childTnLst>
                              <p:par>
                                <p:cTn id="3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700"/>
                            </p:stCondLst>
                            <p:childTnLst>
                              <p:par>
                                <p:cTn id="34" presetID="10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6150"/>
                            </p:stCondLst>
                            <p:childTnLst>
                              <p:par>
                                <p:cTn id="38" presetID="25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3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7" dur="35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6650"/>
                            </p:stCondLst>
                            <p:childTnLst>
                              <p:par>
                                <p:cTn id="52" presetID="25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6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3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9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35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150"/>
                            </p:stCondLst>
                            <p:childTnLst>
                              <p:par>
                                <p:cTn id="66" presetID="25" presetClass="entr" presetSubtype="0" fill="hold" grpId="0" nodeType="after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*.05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.05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" dur="3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.4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175" decel="500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+.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175" accel="50000" fill="hold">
                                          <p:stCondLst>
                                            <p:cond delay="175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5" dur="350" decel="5000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  <p:bldP spid="5" grpId="0" animBg="1"/>
      <p:bldP spid="6" grpId="0"/>
      <p:bldP spid="7" grpId="0"/>
      <p:bldP spid="8" grpId="0" animBg="1"/>
      <p:bldP spid="9" grpId="0"/>
      <p:bldP spid="10" grpId="0" animBg="1"/>
      <p:bldP spid="11" grpId="0"/>
      <p:bldP spid="12" grpId="0" animBg="1"/>
      <p:bldP spid="13" grpId="0"/>
      <p:bldP spid="14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872</Words>
  <Application>Microsoft Office PowerPoint</Application>
  <PresentationFormat>Widescreen</PresentationFormat>
  <Paragraphs>131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Ujjwal Deep 10089</cp:lastModifiedBy>
  <cp:revision>2</cp:revision>
  <dcterms:created xsi:type="dcterms:W3CDTF">2013-01-27T09:14:16Z</dcterms:created>
  <dcterms:modified xsi:type="dcterms:W3CDTF">2026-09-21T10:52:49Z</dcterms:modified>
  <cp:category/>
</cp:coreProperties>
</file>