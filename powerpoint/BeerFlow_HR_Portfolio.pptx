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0" y="0"/>
            <a:ext cx="164592" cy="68580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10912" y="0"/>
            <a:ext cx="7178040" cy="50292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10912" y="6217920"/>
            <a:ext cx="7178040" cy="64008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9202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D54F"/>
                </a:solidFill>
                <a:latin typeface="Calibri"/>
              </a:rPr>
              <a:t>BeerFlow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8346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Supply Chain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520440"/>
            <a:ext cx="3474720" cy="36576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65760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Harsh Raj Pandey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1148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BBCC"/>
                </a:solidFill>
                <a:latin typeface="Calibri"/>
              </a:rPr>
              <a:t>Supply Chain &amp; Operations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8920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FF"/>
                </a:solidFill>
                <a:latin typeface="Calibri"/>
              </a:rPr>
              <a:t>linkedin.com/in/harsh-raj-pandey-1a0319325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23951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FF"/>
                </a:solidFill>
                <a:latin typeface="Calibri"/>
              </a:rPr>
              <a:t>pandey.monti24@gmail.com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8698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FF"/>
                </a:solidFill>
                <a:latin typeface="Calibri"/>
              </a:rPr>
              <a:t>github.com/Harsh258-collab/beerflow-supply-chain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9144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Calibri"/>
              </a:rPr>
              <a:t>PORTFOLIO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685800"/>
            <a:ext cx="6492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Calibri"/>
              </a:rPr>
              <a:t>An end-to-end data analytics project
on India's beverage supply chain —
from warehouse to last-mile delivery.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423160"/>
            <a:ext cx="2194560" cy="1143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2514600"/>
            <a:ext cx="2048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237E"/>
                </a:solidFill>
                <a:latin typeface="Calibri"/>
              </a:rPr>
              <a:t>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3044952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Calibri"/>
              </a:rPr>
              <a:t>Orders Analysed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423160"/>
            <a:ext cx="2194560" cy="1143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2514600"/>
            <a:ext cx="2048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237E"/>
                </a:solidFill>
                <a:latin typeface="Calibr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3044952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Calibri"/>
              </a:rPr>
              <a:t>Beverage SKUs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3794760"/>
            <a:ext cx="2194560" cy="1143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5232" y="3886200"/>
            <a:ext cx="2048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237E"/>
                </a:solidFill>
                <a:latin typeface="Calibri"/>
              </a:rP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4416552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Calibri"/>
              </a:rPr>
              <a:t>Cities Covered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794760"/>
            <a:ext cx="2194560" cy="1143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8392" y="3886200"/>
            <a:ext cx="2048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237E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4416552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Calibri"/>
              </a:rPr>
              <a:t>Warehouses Tracked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629107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7E"/>
                </a:solidFill>
                <a:latin typeface="Calibri"/>
              </a:rPr>
              <a:t>Tools: Python  |  Excel  |  PowerPoint  |  Supply Chain Analytics</a:t>
            </a:r>
          </a:p>
        </p:txBody>
      </p:sp>
    </p:spTree>
    <p:transition spd="med">
      <p:push dir="l"/>
    </p:transition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237E"/>
                </a:solidFill>
                <a:latin typeface="Calibri"/>
              </a:rPr>
              <a:t>The Problem I Set Out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121"/>
                </a:solidFill>
                <a:latin typeface="Calibri"/>
              </a:rPr>
              <a:t>Beverage supply chains lose millions every year to 3 preventable problems: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20240"/>
            <a:ext cx="3566160" cy="4206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Orders Delivered 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01568"/>
            <a:ext cx="3200400" cy="3200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Customers cancel. Retailers lose trust.
No one knows WHY deliveries fail until
it is too late.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920240"/>
            <a:ext cx="3566160" cy="42062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2103120"/>
            <a:ext cx="457200" cy="45720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Warehouses Overstocked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401568"/>
            <a:ext cx="3200400" cy="3200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520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Cash gets locked in excess inventory.
Some SKUs sit for weeks. Others run out
during peak season.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920240"/>
            <a:ext cx="3566160" cy="4206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0" y="2103120"/>
            <a:ext cx="457200" cy="45720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Logistics Money Wasted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401568"/>
            <a:ext cx="3200400" cy="3200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520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Trucks run half-empty. Cold chain breaks.
Rail is 44% cheaper than road — but no
one tracks the gap.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BeerFlow was built to answer these questions using real data — no guesswork.</a:t>
            </a:r>
          </a:p>
        </p:txBody>
      </p:sp>
    </p:spTree>
    <p:transition spd="med">
      <p:push dir="l"/>
    </p:transition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D54F"/>
                </a:solidFill>
                <a:latin typeface="Calibri"/>
              </a:rP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A complete analytics system covering every stage of the beverage supply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08760"/>
            <a:ext cx="2103120" cy="4846320"/>
          </a:xfrm>
          <a:prstGeom prst="roundRect">
            <a:avLst/>
          </a:prstGeom>
          <a:solidFill>
            <a:srgbClr val="283C9B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2103120" cy="109728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54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Demand
Forecasting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00400"/>
            <a:ext cx="1463040" cy="27432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33756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Predicted future sales
for 7 SKUs across
5 regions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508760"/>
            <a:ext cx="2103120" cy="4846320"/>
          </a:xfrm>
          <a:prstGeom prst="roundRect">
            <a:avLst/>
          </a:prstGeom>
          <a:solidFill>
            <a:srgbClr val="283C9B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508760"/>
            <a:ext cx="2103120" cy="109728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6916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54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860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Inventory
Optimization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3200400"/>
            <a:ext cx="1463040" cy="27432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333756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Applied EOQ model to
find ideal stock level
per SKU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79" y="1508760"/>
            <a:ext cx="2103120" cy="4846320"/>
          </a:xfrm>
          <a:prstGeom prst="roundRect">
            <a:avLst/>
          </a:prstGeom>
          <a:solidFill>
            <a:srgbClr val="283C9B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3479" y="1508760"/>
            <a:ext cx="2103120" cy="109728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79" y="16916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54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19" y="22860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Logistics
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19" y="3200400"/>
            <a:ext cx="1463040" cy="27432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19" y="333756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Compared road vs rail,
tracked freight cost
and delivery speed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199" y="1508760"/>
            <a:ext cx="2103120" cy="4846320"/>
          </a:xfrm>
          <a:prstGeom prst="roundRect">
            <a:avLst/>
          </a:prstGeom>
          <a:solidFill>
            <a:srgbClr val="283C9B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199" y="1508760"/>
            <a:ext cx="2103120" cy="109728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9" y="16916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54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39" y="22860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Distributor
Scorecards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39" y="3200400"/>
            <a:ext cx="1463040" cy="27432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39" y="333756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Graded 20 distributors
on OTIF, Fill Rate
and Damage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19" y="1508760"/>
            <a:ext cx="2103120" cy="4846320"/>
          </a:xfrm>
          <a:prstGeom prst="roundRect">
            <a:avLst/>
          </a:prstGeom>
          <a:solidFill>
            <a:srgbClr val="283C9B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46919" y="1508760"/>
            <a:ext cx="2103120" cy="109728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19" y="16916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54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59" y="22860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Cold Chain
&amp; Fleet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59" y="3200400"/>
            <a:ext cx="1463040" cy="27432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59" y="333756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Mapped temperature
breaches and empty
truck miles wasted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Calibri"/>
              </a:rPr>
              <a:t>Output: 2 Excel dashboards  |  3 PowerPoint presentations  |  Python analytics pipeline</a:t>
            </a:r>
          </a:p>
        </p:txBody>
      </p:sp>
    </p:spTree>
    <p:transition spd="med">
      <p:push dir="l"/>
    </p:transition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54F"/>
                </a:solidFill>
                <a:latin typeface="Calibri"/>
              </a:rPr>
              <a:t>4 Key Analytical Findings from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234440"/>
            <a:ext cx="571500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109728" cy="2377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3258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12121"/>
                </a:solidFill>
                <a:latin typeface="Calibri"/>
              </a:rPr>
              <a:t>1 in 6 orders arrived 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" y="1892808"/>
            <a:ext cx="3108960" cy="329184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89280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OTIF = 83.4%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313432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16.6% of 2,000 orders failed on-time OR in-full.
On-Time: 87.8%. In-Full: 95.0%.
North India had the worst delivery gaps.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71500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109728" cy="2377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3258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12121"/>
                </a:solidFill>
                <a:latin typeface="Calibri"/>
              </a:rPr>
              <a:t>INR 8.76 Lakh locked in excess stock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4808" y="1892808"/>
            <a:ext cx="3108960" cy="32918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9280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EOQ model freed working capital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313432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Optimal reorder quantities: 32,450 cases -&gt; 27,580.
A 15% reduction in order size freed INR 8.76L
in cash that was tied up in inventory.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840480"/>
            <a:ext cx="571500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840480"/>
            <a:ext cx="109728" cy="2377440"/>
          </a:xfrm>
          <a:prstGeom prst="rect">
            <a:avLst/>
          </a:prstGeom>
          <a:solidFill>
            <a:srgbClr val="00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9319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12121"/>
                </a:solidFill>
                <a:latin typeface="Calibri"/>
              </a:rPr>
              <a:t>Rail is 44% cheaper — but underused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" y="4498848"/>
            <a:ext cx="3108960" cy="329184"/>
          </a:xfrm>
          <a:prstGeom prst="roundRect">
            <a:avLst/>
          </a:prstGeom>
          <a:solidFill>
            <a:srgbClr val="00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449884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INR 21.12L annual saving 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919472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Road: INR 14.80/case  |  Rail: INR 8.20/case.
On 32,000 cases per route, shifting to rail
saves INR 21.12L annually.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40480"/>
            <a:ext cx="571500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40480"/>
            <a:ext cx="109728" cy="2377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9319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12121"/>
                </a:solidFill>
                <a:latin typeface="Calibri"/>
              </a:rPr>
              <a:t>18% of cold chain shipments breached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64808" y="4498848"/>
            <a:ext cx="3108960" cy="329184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449884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Retail handover = worst stage (34.8%)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919472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Cold chain failure risks spoilage and returns.
Retail handover is the #1 pain point — the moment
goods leave refrigerated transport.</a:t>
            </a:r>
          </a:p>
        </p:txBody>
      </p:sp>
    </p:spTree>
    <p:transition spd="med">
      <p:push dir="l"/>
    </p:transition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237E"/>
                </a:solidFill>
                <a:latin typeface="Calibri"/>
              </a:rPr>
              <a:t>My Skills &amp; Toolbox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37E"/>
                </a:solidFill>
                <a:latin typeface="Calibri"/>
              </a:rPr>
              <a:t>Technical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Python (pandas, numpy, openpyxl, python-pptx)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783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A237E"/>
                </a:solidFill>
                <a:latin typeface="Calibri"/>
              </a:rPr>
              <a:t>Advanced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58568"/>
            <a:ext cx="5120640" cy="1463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258568"/>
            <a:ext cx="5029200" cy="146304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6090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Excel (Pivots, VLOOKUP, Charts, Dashboards)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60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A237E"/>
                </a:solidFill>
                <a:latin typeface="Calibri"/>
              </a:rPr>
              <a:t>Advanced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36392"/>
            <a:ext cx="5120640" cy="1463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136392"/>
            <a:ext cx="4754880" cy="146304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3872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Supply Chain KPIs — OTIF, MAPE, EOQ, Fill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538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696E"/>
                </a:solidFill>
                <a:latin typeface="Calibri"/>
              </a:rPr>
              <a:t>Applied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14216"/>
            <a:ext cx="5120640" cy="1463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14216"/>
            <a:ext cx="4389120" cy="146304"/>
          </a:xfrm>
          <a:prstGeom prst="rect">
            <a:avLst/>
          </a:prstGeom>
          <a:solidFill>
            <a:srgbClr val="00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41655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Data Cleaning &amp; Pipeline Building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4165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696E"/>
                </a:solidFill>
                <a:latin typeface="Calibri"/>
              </a:rPr>
              <a:t>Applied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92040"/>
            <a:ext cx="5120640" cy="1463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892040"/>
            <a:ext cx="4114800" cy="146304"/>
          </a:xfrm>
          <a:prstGeom prst="rect">
            <a:avLst/>
          </a:prstGeom>
          <a:solidFill>
            <a:srgbClr val="00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29437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Statistical Forecasting (Time Series)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52943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Calibri"/>
              </a:rPr>
              <a:t>Intermediate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69864"/>
            <a:ext cx="5120640" cy="1463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769864"/>
            <a:ext cx="3657600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1188720"/>
            <a:ext cx="36576" cy="53949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2344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37E"/>
                </a:solidFill>
                <a:latin typeface="Calibri"/>
              </a:rPr>
              <a:t>Domain Knowledge</a:t>
            </a:r>
          </a:p>
        </p:txBody>
      </p:sp>
      <p:sp>
        <p:nvSpPr>
          <p:cNvPr id="27" name="Oval 26"/>
          <p:cNvSpPr/>
          <p:nvPr/>
        </p:nvSpPr>
        <p:spPr>
          <a:xfrm>
            <a:off x="6035040" y="1965959"/>
            <a:ext cx="256032" cy="256032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87451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Demand Forecasting &amp; MAPE Analysis</a:t>
            </a:r>
          </a:p>
        </p:txBody>
      </p:sp>
      <p:sp>
        <p:nvSpPr>
          <p:cNvPr id="29" name="Oval 28"/>
          <p:cNvSpPr/>
          <p:nvPr/>
        </p:nvSpPr>
        <p:spPr>
          <a:xfrm>
            <a:off x="6035040" y="2606040"/>
            <a:ext cx="256032" cy="256032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514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Inventory Optimisation (EOQ model)</a:t>
            </a:r>
          </a:p>
        </p:txBody>
      </p:sp>
      <p:sp>
        <p:nvSpPr>
          <p:cNvPr id="31" name="Oval 30"/>
          <p:cNvSpPr/>
          <p:nvPr/>
        </p:nvSpPr>
        <p:spPr>
          <a:xfrm>
            <a:off x="6035040" y="3246119"/>
            <a:ext cx="256032" cy="256032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15467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Distributor Performance Scorecards</a:t>
            </a:r>
          </a:p>
        </p:txBody>
      </p:sp>
      <p:sp>
        <p:nvSpPr>
          <p:cNvPr id="33" name="Oval 32"/>
          <p:cNvSpPr/>
          <p:nvPr/>
        </p:nvSpPr>
        <p:spPr>
          <a:xfrm>
            <a:off x="6035040" y="3886199"/>
            <a:ext cx="256032" cy="256032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79475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Freight Cost Benchmarking (Road vs Rail)</a:t>
            </a:r>
          </a:p>
        </p:txBody>
      </p:sp>
      <p:sp>
        <p:nvSpPr>
          <p:cNvPr id="35" name="Oval 34"/>
          <p:cNvSpPr/>
          <p:nvPr/>
        </p:nvSpPr>
        <p:spPr>
          <a:xfrm>
            <a:off x="6035040" y="4526280"/>
            <a:ext cx="256032" cy="256032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434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Cold Chain Monitoring</a:t>
            </a:r>
          </a:p>
        </p:txBody>
      </p:sp>
      <p:sp>
        <p:nvSpPr>
          <p:cNvPr id="37" name="Oval 36"/>
          <p:cNvSpPr/>
          <p:nvPr/>
        </p:nvSpPr>
        <p:spPr>
          <a:xfrm>
            <a:off x="6035040" y="5166360"/>
            <a:ext cx="256032" cy="256032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074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Fleet Utilisation Analysis</a:t>
            </a:r>
          </a:p>
        </p:txBody>
      </p:sp>
      <p:sp>
        <p:nvSpPr>
          <p:cNvPr id="39" name="Oval 38"/>
          <p:cNvSpPr/>
          <p:nvPr/>
        </p:nvSpPr>
        <p:spPr>
          <a:xfrm>
            <a:off x="6035040" y="5806439"/>
            <a:ext cx="256032" cy="256032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571499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Logistics KPI Dashboards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Every metric in this project is derived from the dataset — nothing assumed or made up.</a:t>
            </a:r>
          </a:p>
        </p:txBody>
      </p:sp>
    </p:spTree>
    <p:transition spd="med">
      <p:push dir="l"/>
    </p:transition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D54F"/>
                </a:solidFill>
                <a:latin typeface="Calibri"/>
              </a:rPr>
              <a:t>Project Impact — Before vs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2377440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88920" y="1234440"/>
            <a:ext cx="416052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86600" y="1234440"/>
            <a:ext cx="48463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26187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BEFORE (Status Quo)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2618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AFTER (BeerFlow Analytics)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2377440" cy="713232"/>
          </a:xfrm>
          <a:prstGeom prst="rect">
            <a:avLst/>
          </a:prstGeom>
          <a:solidFill>
            <a:srgbClr val="FFF8E1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737360"/>
            <a:ext cx="4160520" cy="713232"/>
          </a:xfrm>
          <a:prstGeom prst="rect">
            <a:avLst/>
          </a:prstGeom>
          <a:solidFill>
            <a:srgbClr val="FFF8E1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1737360"/>
            <a:ext cx="4846320" cy="713232"/>
          </a:xfrm>
          <a:prstGeom prst="rect">
            <a:avLst/>
          </a:prstGeom>
          <a:solidFill>
            <a:srgbClr val="FFF8E1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830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OTIF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783080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0000"/>
                </a:solidFill>
                <a:latin typeface="Calibri"/>
              </a:rPr>
              <a:t>No visibility — problems found after complaints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83080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83.4% OTIF tracked; region-level gaps mapped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96312"/>
            <a:ext cx="23774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88920" y="249631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2496312"/>
            <a:ext cx="4846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542032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542032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0000"/>
                </a:solidFill>
                <a:latin typeface="Calibri"/>
              </a:rPr>
              <a:t>Order quantities set by gut feeling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542032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EOQ model -&gt; INR 8.76L working capital freed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55263"/>
            <a:ext cx="2377440" cy="713232"/>
          </a:xfrm>
          <a:prstGeom prst="rect">
            <a:avLst/>
          </a:prstGeom>
          <a:solidFill>
            <a:srgbClr val="FFF8E1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88920" y="3255263"/>
            <a:ext cx="4160520" cy="713232"/>
          </a:xfrm>
          <a:prstGeom prst="rect">
            <a:avLst/>
          </a:prstGeom>
          <a:solidFill>
            <a:srgbClr val="FFF8E1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86600" y="3255263"/>
            <a:ext cx="4846320" cy="713232"/>
          </a:xfrm>
          <a:prstGeom prst="rect">
            <a:avLst/>
          </a:prstGeom>
          <a:solidFill>
            <a:srgbClr val="FFF8E1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300983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Freight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300983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0000"/>
                </a:solidFill>
                <a:latin typeface="Calibri"/>
              </a:rPr>
              <a:t>Always using road transport by default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300983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Rail 44% cheaper; INR 21.12L annual saving identified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14215"/>
            <a:ext cx="23774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88920" y="4014215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86600" y="4014215"/>
            <a:ext cx="4846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059935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Distributors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4059935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0000"/>
                </a:solidFill>
                <a:latin typeface="Calibri"/>
              </a:rPr>
              <a:t>All 20 treated the same — no grading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059935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Graded A to D; bottom performers flagged for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773168"/>
            <a:ext cx="2377440" cy="713232"/>
          </a:xfrm>
          <a:prstGeom prst="rect">
            <a:avLst/>
          </a:prstGeom>
          <a:solidFill>
            <a:srgbClr val="FFF8E1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88920" y="4773168"/>
            <a:ext cx="4160520" cy="713232"/>
          </a:xfrm>
          <a:prstGeom prst="rect">
            <a:avLst/>
          </a:prstGeom>
          <a:solidFill>
            <a:srgbClr val="FFF8E1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86600" y="4773168"/>
            <a:ext cx="4846320" cy="713232"/>
          </a:xfrm>
          <a:prstGeom prst="rect">
            <a:avLst/>
          </a:prstGeom>
          <a:solidFill>
            <a:srgbClr val="FFF8E1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818888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Cold Chain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818888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0000"/>
                </a:solidFill>
                <a:latin typeface="Calibri"/>
              </a:rPr>
              <a:t>Temperature breaches unknown until 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4818888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18.2% breach rate mapped; retail handover = 34.8%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532119"/>
            <a:ext cx="23774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88920" y="5532119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86600" y="5532119"/>
            <a:ext cx="4846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577839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Demand Planning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5577839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0000"/>
                </a:solidFill>
                <a:latin typeface="Calibri"/>
              </a:rPr>
              <a:t>No SKU-level forecasting done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5577839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MAPE 9.2% (best SKU) — actionable replenishment plan</a:t>
            </a:r>
          </a:p>
        </p:txBody>
      </p:sp>
    </p:spTree>
    <p:transition spd="med">
      <p:push dir="l"/>
    </p:transition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37E"/>
                </a:solidFill>
                <a:latin typeface="Calibri"/>
              </a:rPr>
              <a:t>Distributor Performance Scorecard — 20 Partners 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  <a:latin typeface="Calibri"/>
              </a:rPr>
              <a:t>Each distributor scored on 4 KPIs. Combined into a single Performance Score. Graded A to 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91640"/>
            <a:ext cx="11430000" cy="6858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D54F"/>
                </a:solidFill>
                <a:latin typeface="Consolas"/>
              </a:rPr>
              <a:t>Score = (OTIF x 0.4) + (Fill Rate x 0.3) + ((1 - Damage Rate) x 0.2) + ((1 - TAT_norm) x 0.1)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14600"/>
            <a:ext cx="26517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269748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97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Calibri"/>
              </a:rPr>
              <a:t>3 Distributors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57575"/>
                </a:solidFill>
                <a:latin typeface="Calibri"/>
              </a:rPr>
              <a:t>Score &gt;= 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434840"/>
            <a:ext cx="192024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5262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Excellent partners.
High OTIF, low damage.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514600"/>
            <a:ext cx="26517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51960" y="2697480"/>
            <a:ext cx="640080" cy="640080"/>
          </a:xfrm>
          <a:prstGeom prst="ellipse">
            <a:avLst/>
          </a:prstGeom>
          <a:solidFill>
            <a:srgbClr val="00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697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696E"/>
                </a:solidFill>
                <a:latin typeface="Calibri"/>
              </a:rPr>
              <a:t>14 Distributors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977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57575"/>
                </a:solidFill>
                <a:latin typeface="Calibri"/>
              </a:rPr>
              <a:t>Score 75-89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4434840"/>
            <a:ext cx="1920240" cy="27432"/>
          </a:xfrm>
          <a:prstGeom prst="rect">
            <a:avLst/>
          </a:prstGeom>
          <a:solidFill>
            <a:srgbClr val="00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5262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Good — minor gaps.
Most distributors 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514600"/>
            <a:ext cx="26517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0" y="2697480"/>
            <a:ext cx="640080" cy="64008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697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5100"/>
                </a:solidFill>
                <a:latin typeface="Calibri"/>
              </a:rPr>
              <a:t>2 Distributors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977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57575"/>
                </a:solidFill>
                <a:latin typeface="Calibri"/>
              </a:rPr>
              <a:t>Score 60-74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434840"/>
            <a:ext cx="1920240" cy="274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5262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Needs improvement.
Review SLA compliance.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514600"/>
            <a:ext cx="26517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12680" y="2697480"/>
            <a:ext cx="640080" cy="64008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2697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Calibri"/>
              </a:rPr>
              <a:t>1 Distributors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977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57575"/>
                </a:solidFill>
                <a:latin typeface="Calibri"/>
              </a:rPr>
              <a:t>Score &lt; 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4434840"/>
            <a:ext cx="1920240" cy="274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45262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Critical risk.
Priority for action.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This scorecard helps operations teams focus on distributors that need attention most.</a:t>
            </a:r>
          </a:p>
        </p:txBody>
      </p:sp>
    </p:spTree>
    <p:transition spd="med">
      <p:push dir="l"/>
    </p:transition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D54F"/>
                </a:solidFill>
                <a:latin typeface="Calibri"/>
              </a:rPr>
              <a:t>Why I Want to Work at AB InBev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I did not pick AB InBev because it is famous. I picked it because of what it operates.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965960"/>
            <a:ext cx="640080" cy="64008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237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54F"/>
                </a:solidFill>
                <a:latin typeface="Calibri"/>
              </a:rPr>
              <a:t>Scale that makes supply chain data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774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AB InBev moves 500M+ hectolitres across 50+ countries. At that scale,
a 1% improvement in OTIF equals millions of dollars saved. That is exactly
the kind of problem I want to work on every day.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474719"/>
            <a:ext cx="640080" cy="64008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747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237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289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54F"/>
                </a:solidFill>
                <a:latin typeface="Calibri"/>
              </a:rPr>
              <a:t>Data-first culture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8619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I built BeerFlow because I believe supply chains run better on data than
intuition. AB InBev's investment in analytics, connected breweries, and
predictive logistics aligns perfectly with how I think.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983480"/>
            <a:ext cx="640080" cy="64008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983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237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54F"/>
                </a:solidFill>
                <a:latin typeface="Calibri"/>
              </a:rPr>
              <a:t>Real operations, real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949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I want to be in a role where my analysis influences actual inventory decisions,
distributor negotiations, or logistics route choices — not just reports
that sit in a folder.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Calibri"/>
              </a:rPr>
              <a:t>I am not just looking for any supply chain job. I want to do this work — at AB InBev.</a:t>
            </a:r>
          </a:p>
        </p:txBody>
      </p:sp>
    </p:spTree>
    <p:transition spd="med">
      <p:push dir="l"/>
    </p:transition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960120"/>
            <a:ext cx="8869680" cy="5394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731520"/>
            <a:ext cx="8869680" cy="5394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914400"/>
            <a:ext cx="8869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237E"/>
                </a:solidFill>
                <a:latin typeface="Calibri"/>
              </a:rPr>
              <a:t>Let's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1691640"/>
            <a:ext cx="2286000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12121"/>
                </a:solidFill>
                <a:latin typeface="Calibri"/>
              </a:rPr>
              <a:t>Harsh Raj Pandey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757575"/>
                </a:solidFill>
                <a:latin typeface="Calibri"/>
              </a:rPr>
              <a:t>Supply Chain &amp; Operations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971800"/>
            <a:ext cx="7635240" cy="5029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3017520"/>
            <a:ext cx="7452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237E"/>
                </a:solidFill>
                <a:latin typeface="Calibri"/>
              </a:rPr>
              <a:t>pandey.monti24@gmail.com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630168"/>
            <a:ext cx="7635240" cy="5029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3675888"/>
            <a:ext cx="7452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237E"/>
                </a:solidFill>
                <a:latin typeface="Calibri"/>
              </a:rPr>
              <a:t>linkedin.com/in/harsh-raj-pandey-1a0319325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288536"/>
            <a:ext cx="7635240" cy="5029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4334256"/>
            <a:ext cx="7452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237E"/>
                </a:solidFill>
                <a:latin typeface="Calibri"/>
              </a:rPr>
              <a:t>github.com/Harsh258-collab/beerflow-supply-chain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  <a:latin typeface="Calibri"/>
              </a:rPr>
              <a:t>Open to: Supply Chain Analyst  |  Operations Analyst  |  Demand Planning  |  Logistics Analytics</a:t>
            </a:r>
          </a:p>
        </p:txBody>
      </p:sp>
    </p:spTree>
    <p:transition spd="med">
      <p:push dir="l"/>
    </p:transition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