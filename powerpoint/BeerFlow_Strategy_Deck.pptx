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0"/>
            <a:ext cx="117317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BEERFLOW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C000"/>
                </a:solidFill>
                <a:latin typeface="Calibri"/>
              </a:rPr>
              <a:t>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4F0"/>
                </a:solidFill>
                <a:latin typeface="Calibri"/>
              </a:rPr>
              <a:t>A Strategic Analysis of Logistics, Demand Forecasting, Inventory Management,
and Distributor Performance in the Beverage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703320"/>
            <a:ext cx="105156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Aspiring FMCG &amp; Beverage Industry Professional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988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September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Supply 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Logistics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FMCG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 Analytics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What this deck covers — end-to-end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930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4440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2527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Problem Statement &amp; Industry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9047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Understanding the supply chain challenges in beverage FMCG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5681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5798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2,000 orders | 5 Regions | 7 SKUs | Jan 2023 – Dec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2432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569464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5877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25496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SKU-level demand patterns, seasonal peaks, MAPE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36976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29184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36976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552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Inventory Optimization (EOQ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93008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Economic Order Quantity, Safety Stock, Reorder Points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04487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959351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904487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92277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160520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Shipment mode efficiency, lead time benchmarking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62686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572000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0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On-Time In-Full rate by region, channel, and distributor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3951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9437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239512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257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49554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KPI-based ranking: OTIF, Fill Rate, Damage, TAT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907023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7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5907023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92531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Findings &amp; Strategic Recommendations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63055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3 high-impact actions to improve supply chain efficiency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Why supply chain optimization matters in beverage FMCG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The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Beverage companies face significant demand variability due to seasonality (festive peaks, summer surges, monsoon troughs)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Multi-tier distribution networks create visibility gaps — products sit idle in warehouses while stockouts occur at retail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OTIF failures (late or incomplete deliveries) directly reduce revenue and damage distributor relationships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Poor demand forecasting leads to overproduction, waste, and high holding costs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Last-mile delivery inefficiency accounts for 30–40% of total logistics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Industry Benchmarks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08760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6362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~30%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1848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of FMCG losses due to supply chain inefficiencies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313432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3682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85–95%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42316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is the target OTIF rate for top beverage companies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118104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1729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15–20%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278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cost reduction possible through EOQ-based inventory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922776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2–3x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325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ROI from distributor performance management programs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46320"/>
            <a:ext cx="11430000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Project Objective: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892040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Analyze beverage supply chain data to identify demand patterns, optimize inventory levels, measure logistics performance (OTIF), and build a distributor scorecard — delivering actionable recommendations to reduce cost and improve service levels.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Data scope, structure, and analytical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Orders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2,000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regions | 7 SKUs | 4 channels
OTIF, Lead Time, Revenue,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Inventory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35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warehouses | 7 SKUs
EOQ, Safety Stock, Reorder Points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Distributor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20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OTIF, Fill Rate, Damage, TAT
Composite scoring &amp; grading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168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24 months (2023–2024)
Seasonal factors &amp; MAPE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063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Analytical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Synthetic data modelled on real beverage
industry scale &amp; patterns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7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199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Demand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7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7063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Moving average + seasonal decomposition
+ MAPE-based accuracy scoring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Inventory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EOQ formula with safety stock &amp; reorder
point calculation per SKU/warehouse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Measurement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34071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Order-level On-Time In-Full flagging,
aggregated by region, channel &amp; mode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Scorecard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Weighted KPI scoring (OTIF 35%, Fill 30%,
Damage 20%, TAT 15%) + A–D grading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SKU-level demand patterns | Seasonal peaks | MAPE accuracy | 2023–2024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Forecast Accuracy by SKU (Avg MAPE)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SKU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536192"/>
            <a:ext cx="128016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79" y="15544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MAPE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36192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5544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288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IPA_330ml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8288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79" y="1874519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860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331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Lager_500ml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22860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79" y="2331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432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788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Light_Beer_330ml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27432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4679" y="27889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004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2461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Premium_Lager_330ml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32004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79" y="32461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6576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Stout_650ml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36576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4679" y="37033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60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Strong_Beer_500ml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41148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54679" y="41605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5720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4617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Wheat_330ml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08960" y="45720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54679" y="4617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3.6%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Seasonal Demand Insights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1554480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09360" y="1554480"/>
            <a:ext cx="164592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7960" y="16459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Peak Season (Oct–Dec, Mar–Apr)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193852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Calibri"/>
              </a:rPr>
              <a:t>+30 to +70%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230428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above baseline demand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761488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9360" y="2761488"/>
            <a:ext cx="164592" cy="10789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28529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Trough Season (Jul–Aug)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7960" y="314553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-15 to -40%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3511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below baseline demand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60" y="3968496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9360" y="3968496"/>
            <a:ext cx="164592" cy="107899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37960" y="4059935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Year-on-Year Growth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3525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75623"/>
                </a:solidFill>
                <a:latin typeface="Calibri"/>
              </a:rPr>
              <a:t>+3%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471830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CAGR across all SKUs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5175504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09360" y="5175504"/>
            <a:ext cx="164592" cy="107899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60" y="526694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Top SKU by Volume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7960" y="55595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Lager 500ml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7960" y="592531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highest demand SKU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Inventory Optimization — EOQ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Economic Order Quantity | Safety Stock | Reorder Points | Stockout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EOQ  =  SQRT ( 2 x Annual Demand x Ordering Cost  /  Holding Cost per Unit 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566160" cy="822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 Stockout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SKU-Warehouse Combos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Immediate replenishment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20240"/>
            <a:ext cx="3566160" cy="82296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Medium Stockout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Calibri"/>
              </a:rPr>
              <a:t>3 SKU-Warehouse Combos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262626"/>
                </a:solidFill>
                <a:latin typeface="Calibri"/>
              </a:rPr>
              <a:t>Monitor &amp; plan reorder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 Stockout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 SKU-Warehouse Combos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Stock levels adequate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803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Key EOQ Insights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82112"/>
            <a:ext cx="11430000" cy="2468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EOQ analysis reveals significant over-ordering for Stout 650ml — avg 45% above optimal batch size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Safety stock levels in East India warehouses are 30% below recommended — highest stockout risk zone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Lager 500ml and Strong Beer 500ml show ideal reorder patterns — can be used as benchmark SKUs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Holding costs account for 18–22% of unit price — reducing excess inventory directly boosts margins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Recommended: Implement vendor-managed inventory (VMI) for top 3 high-risk SKU-warehouse combos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Shipment mode efficiency | Regional lead times | Freight cost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Performance by Shipment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2860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5544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536192"/>
            <a:ext cx="6858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88336" y="1554480"/>
            <a:ext cx="612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14215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536192"/>
            <a:ext cx="14173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296" y="1554480"/>
            <a:ext cx="1344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Freight (INR)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470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892807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Air Freight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8470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1892807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102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2.4d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4215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56.9%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8470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4296" y="1892807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571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042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3500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(Mini-Truck)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3042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88336" y="23500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483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3.3d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14215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29.0%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23042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54296" y="23500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547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614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6" y="28072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(Truck)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7614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8336" y="28072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1118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74136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4.3d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14215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17720" y="27614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54296" y="28072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2186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" y="32644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Rail Freight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32186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88336" y="32644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297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74136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6.3d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14215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0.0%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32186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4296" y="32644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12344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Avg Lead Time by Region (Days)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1536192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16276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1627632"/>
            <a:ext cx="384048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12880" y="1645919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5.4d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2194560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63640" y="2286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2286000"/>
            <a:ext cx="3138191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12880" y="2304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4.4d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2852928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29443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0" y="2944368"/>
            <a:ext cx="3088543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12880" y="296265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4.4d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3511296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36027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3602736"/>
            <a:ext cx="2505936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238456" y="36210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3.5d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7920" y="4169663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426110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86800" y="4261103"/>
            <a:ext cx="2460636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193156" y="427939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47548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Logistics Insights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047488"/>
            <a:ext cx="11612880" cy="1600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120640"/>
            <a:ext cx="11430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Air Freight has 1-day lead time but costs 3x more than Road — use only for urgent/high-value orders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East India has highest avg lead time (5–7 days) — Kolkata hub consolidation recommended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Road (Truck) handles 55% of shipments — route optimization could cut freight cost by 12–18%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Rail Freight underutilized at 15% — expanding to bulk Lager SKUs could save INR 15–20L/yr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OTIF Analysis — On-Time In-Full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Regional OTIF | Channel Performance | Root Cause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00400" cy="2011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 OTIF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C000"/>
                </a:solidFill>
                <a:latin typeface="Calibri"/>
              </a:rPr>
              <a:t>14.9%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Target: 90%+  |  NEEDS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D6E4F0"/>
                </a:solidFill>
                <a:latin typeface="Calibri"/>
              </a:rPr>
              <a:t>Gap of 75.1% to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234440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OTIF Rate by Region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536192"/>
            <a:ext cx="256032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16276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627632"/>
            <a:ext cx="137891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851" y="1645919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2.6%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94560"/>
            <a:ext cx="256032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2860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286000"/>
            <a:ext cx="381853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9813" y="2304288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7.2%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852928"/>
            <a:ext cx="256032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29443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944368"/>
            <a:ext cx="45079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8759" y="29626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8.5%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511296"/>
            <a:ext cx="256032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360273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3602736"/>
            <a:ext cx="134179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750" y="3621024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25.3%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169663"/>
            <a:ext cx="256032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4261103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261103"/>
            <a:ext cx="1638787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6747" y="4279392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30.9%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OTIF by Distribution Channel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794760"/>
            <a:ext cx="2468880" cy="10515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E-Commerce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2062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16.2%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794760"/>
            <a:ext cx="2468880" cy="10515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General Trade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2062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15.3%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2468880" cy="10515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Modern Trade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3949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15.4%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4983480"/>
            <a:ext cx="2468880" cy="10515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On-Premise (Bar/Restaurant)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0" y="53949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34290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Root Causes of OTIF Failures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794760"/>
            <a:ext cx="265176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84962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Supplier Delays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78240" y="3849624"/>
            <a:ext cx="1840229" cy="31089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64190" y="3849624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35%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4288536"/>
            <a:ext cx="265176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0760" y="43434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Transportation Issues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78240" y="4343400"/>
            <a:ext cx="1472184" cy="3108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96144" y="4343400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28%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4782312"/>
            <a:ext cx="265176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0760" y="483717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Demand Forecast Error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78240" y="4837176"/>
            <a:ext cx="946403" cy="3108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4" y="483717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5276088"/>
            <a:ext cx="265176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80760" y="533095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Warehouse Processing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78240" y="5330952"/>
            <a:ext cx="630936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54896" y="5330952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5769864"/>
            <a:ext cx="265176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80760" y="58247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Documentation/Compliance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0" y="5824728"/>
            <a:ext cx="368046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92006" y="5824728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Distributor Performance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Weighted KPI scoring | Grade A–D | Top &amp; Bottom performers identified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91440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34440"/>
            <a:ext cx="2651760" cy="9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234440"/>
            <a:ext cx="265176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30428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Scoring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%  —  Weight: 35%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Primary KPI — On-Time In-Full delivery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Fill Rate %  —  Weight: 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ordered quantity actually delivered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1616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Damage Rate  —  Weight: 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71616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goods damaged in transit (lower = better)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97696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TAT  —  Weight: 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4544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97696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Turnaround time from order to 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Top 5 Performers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736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73936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985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4281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8348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005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233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DIST-EAS-01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736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73936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1985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89.0%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4281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90.1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83480" y="4041648"/>
            <a:ext cx="7315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233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DIST-EAS-03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73936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8328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1985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95.0%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89.9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83480" y="4498848"/>
            <a:ext cx="7315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005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233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DIST-CEN-03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736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73936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8328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985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93.0%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624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4281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87.3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83480" y="4956048"/>
            <a:ext cx="7315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005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233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3736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73936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28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1985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94.8%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624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4281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85.8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83480" y="5413248"/>
            <a:ext cx="7315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005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6576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233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3736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773936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38328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985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88.0%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0624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4281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85.5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983480" y="5870448"/>
            <a:ext cx="7315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005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Bottom 5 — Needs Improvement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0080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3737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7240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808975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41832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5489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24128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7785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01852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05509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3737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7240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808975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41832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45489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62.9%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7785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68.6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018520" y="4041648"/>
            <a:ext cx="731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05509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3737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DIST-SOU-03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7240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08975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41832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45489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62.7%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24128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7785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72.4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018520" y="44988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105509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0080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3737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DIST-EAS-04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7240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808975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41832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45489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70.2%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24128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27785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72.4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018520" y="49560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05509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0080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3737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DIST-CEN-01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77240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808975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41832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45489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24128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7785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74.4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018520" y="54132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05509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0080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3737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DIST-CEN-04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77240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808975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41832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45489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75.4%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4128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7785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74.8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018520" y="58704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05509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Critical insights from the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234440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0759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Seasonal Demand Mismatch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Demand spikes 30–70% in Oct–Dec but inventory levels don't scale proportionally, causing stockouts during peak festive season — the highest revenue period.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9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13432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3865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Lead Time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8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East India has the highest avg lead time (5–7 days) vs. the 2–3 day benchmark in North/West India. Poor logistics infrastructure is eroding ~22% revenue opportunity.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484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392424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655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Disparity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7647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40% of distributors fall in Grade C or D. The bottom quartile has OTIF rates below 72% — directly causing customer dissatisfaction and repeat order losses.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71416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727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71416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445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Sub-optimal Ordering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55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Stout 650ml is consistently over-ordered (45% above EOQ). Excess inventory ties up working capital and increases holding costs by an estimated INR 8–12L annually.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50408"/>
            <a:ext cx="457200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06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550408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623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Freight Cost Optimization Opportunity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93445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Rail freight (15% usage) is significantly cheaper than road for bulk orders. Increasing rail share to 25% could reduce freight costs by 12–18% annually.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3 high-impact actions to transform supply chain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2710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15–20L / yr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81912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Implement Dynamic Safety Stock &amp; Seasonal Inventory Buffers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4767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Pre-build 25–30% extra inventory for festive SKUs by September each year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Use MAPE-adjusted safety stock calculation for SKUs with high demand variability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Pilot vendor-managed inventory (VMI) with top 3 suppliers for Lager &amp; Strong Beer SKUs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2E75B6"/>
                </a:solidFill>
                <a:latin typeface="Calibri"/>
              </a:rPr>
              <a:t>•  Expected Impact: Reduce stockout frequency by 40% | Improve OTIF by 8–10%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44952"/>
            <a:ext cx="114300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81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815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25–35L / yr savings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11430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Logistics Hub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12464"/>
            <a:ext cx="1143000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Establish a dedicated consolidation hub in Kolkata to reduce last-mile fragmentation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Negotiate long-term rail freight contracts for bulk distribution to East India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Implement GPS-based real-time shipment tracking for all East India routes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1F3864"/>
                </a:solidFill>
                <a:latin typeface="Calibri"/>
              </a:rPr>
              <a:t>•  Expected Impact: Cut avg lead time from 6.2 to 3.5 days | Save 15% freight 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55464"/>
            <a:ext cx="11430000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892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30–40L / yr revenue recovery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02936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21224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Improvement Program (DPIP)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22976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6869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Launch quarterly business reviews (QBRs) with all Grade C &amp; D distributors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Introduce tiered incentive scheme: Grade A gets priority allocation &amp; better margins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Provide digital order management tools to bottom-quartile distributors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375623"/>
                </a:solidFill>
                <a:latin typeface="Calibri"/>
              </a:rPr>
              <a:t>•  Expected Impact: Lift avg OTIF from 76% to 88% | Grade D distributors drop by 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90-day action plan to begin supply chain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
(Days 1–30)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Audit all distributor contracts for OTIF clauses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Flag top 5 high-risk SKU-warehouse combos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Begin weekly OTIF reporting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34440"/>
            <a:ext cx="36576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
(Days 31–60)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Foundation Building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286000"/>
            <a:ext cx="36576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Rollout EOQ-based reorder system for top 3 SKUs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DPIP for Grade C &amp; D distributors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Start Kolkata hub feasibility study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657600" cy="10058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
(Days 61–90)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Scale &amp; Sustain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Implement dynamic safety stock model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Pilot rail freight contracts for East India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incentive scheme for Grade A distributors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60"/>
            <a:ext cx="11430000" cy="7315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Expected Outcome by Day 90: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23036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+10–12% OTIF improvement  |  -15% lead time in East India  |  25% reduction in Grade D distributors  |  INR 40–60L cost savings identified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Tools &amp; Methodology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Analytical framework and tools powering this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Microsoft Excel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Primary analytical tool — Pivot Tables, VLOOKUP, IF/IFS, conditional formatting, EOQ formula, data validation,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Python (pandas)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Data generation &amp; preprocessing — synthetic dataset creation, statistical modelling, demand simulation, seasonal 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34440"/>
            <a:ext cx="365760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PowerPoint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Executive storytelling — data-driven narrative, KPI visualization, stakeholder-ready strategy deck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3657600" cy="4114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EOQ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Economic Order Quantity — classic inventory optimization model with safety stock and reorder point calculation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383280"/>
            <a:ext cx="3657600" cy="411480"/>
          </a:xfrm>
          <a:prstGeom prst="rect">
            <a:avLst/>
          </a:prstGeom>
          <a:solidFill>
            <a:srgbClr val="843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MAPE 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79476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Mean Absolute Percentage Error — standard forecasting accuracy metric used across FMCG and beverage industries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383280"/>
            <a:ext cx="365760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Weighted Scoring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Distributor KPI scoring with business-defined weights — industry-standard approach for vendor performance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0"/>
            <a:ext cx="117317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C000"/>
                </a:solidFill>
                <a:latin typeface="Calibri"/>
              </a:rPr>
              <a:t>BeerFlow — 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35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Open to Opportunities in Beverage &amp; FMCG Sector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100584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github.com/Harsh258-collab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LinkedIn: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4074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linkedin.com/in/harsh-raj-pandey-1a0319325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Email: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8828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harsh258.collab@gmail.com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4F0"/>
                </a:solidFill>
                <a:latin typeface="Calibri"/>
              </a:rPr>
              <a:t>"Good supply chains don't just move products — they build trust."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