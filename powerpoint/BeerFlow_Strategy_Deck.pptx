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0"/>
            <a:ext cx="11731752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BEERFLOW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C000"/>
                </a:solidFill>
                <a:latin typeface="Calibri"/>
              </a:rPr>
              <a:t>Beverage Supply Chain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E4F0"/>
                </a:solidFill>
                <a:latin typeface="Calibri"/>
              </a:rPr>
              <a:t>A Strategic Analysis of Logistics, Demand Forecasting, Inventory Management,
and Distributor Performance in the Beverage Industry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703320"/>
            <a:ext cx="1051560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Harsh Raj Pandey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24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Supply Chain Analyst | Aspiring FMCG &amp; Beverage Industry Professional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988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September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Supply 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Logistics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FMCG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 Analytics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What this deck covers — end-to-end supply chain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930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34440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25272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Problem Statement &amp; Industry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90472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Understanding the supply chain challenges in beverage FMCG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01952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5681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901952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202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Dataset Overview &amp; Methodology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57984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2,000 orders | 5 Regions | 7 SKUs | Jan 2023 – Dec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69464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62432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569464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5877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Demand Forecasting &amp; Seasonal Trends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25496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SKU-level demand patterns, seasonal peaks, MAPE accuracy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36976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29184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36976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5526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Inventory Optimization (EOQ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493008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Economic Order Quantity, Safety Stock, Reorder Points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04487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959351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3904487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3922775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Logistics Performance &amp; Lead Time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160520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Shipment mode efficiency, lead time benchmarking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572000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62686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572000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02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OTIF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828032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On-Time In-Full rate by region, channel, and distributor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39512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9437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239512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2578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Distributor Scorecard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495544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KPI-based ranking: OTIF, Fill Rate, Damage, TAT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907023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961887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" y="5907023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925311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Key Findings &amp; Strategic Recommendations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63055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3 high-impact actions to improve supply chain efficiency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Why supply chain optimization matters in beverage FMCG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The Challenge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669280" cy="3200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Beverage companies face significant demand variability due to seasonality (festive peaks, summer surges, monsoon troughs)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Multi-tier distribution networks create visibility gaps — products sit idle in warehouses while stockouts occur at retail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OTIF failures (late or incomplete deliveries) directly reduce revenue and damage distributor relationships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Poor demand forecasting leads to overproduction, waste, and high holding costs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Last-mile delivery inefficiency accounts for 30–40% of total logistics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Industry Benchmarks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508760"/>
            <a:ext cx="5394960" cy="7132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6362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~30%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1848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of FMCG losses due to supply chain inefficiencies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313432"/>
            <a:ext cx="5394960" cy="7132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3682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85–95%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42316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is the target OTIF rate for top beverage companies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118104"/>
            <a:ext cx="5394960" cy="7132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17296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15–20%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2783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cost reduction possible through EOQ-based inventory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922776"/>
            <a:ext cx="5394960" cy="7132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97763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2–3x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032504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ROI from distributor performance management programs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46320"/>
            <a:ext cx="11430000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9194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Project Objective: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892040"/>
            <a:ext cx="8869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Analyze beverage supply chain data to identify demand patterns, optimize inventory levels, measure logistics performance (OTIF), and build a distributor scorecard — delivering actionable recommendations to reduce cost and improve service levels.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Dataset Overview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Data scope, structure, and analytical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Orders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2,000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5 regions | 7 SKUs | 4 channels
OTIF, Lead Time, Revenue,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Inventory 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35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5 warehouses | 7 SKUs
EOQ, Safety Stock, Reorder Points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Distributor Scorecard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20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OTIF, Fill Rate, Damage, TAT
Composite scoring &amp; grading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Demand Forecast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168 records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24 months (2023–2024)
Seasonal factors &amp; MAPE accuracy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063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Analytical Methodology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 Generation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Synthetic data modelled on real beverage
industry scale &amp; patterns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97479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199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Demand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79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7063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Moving average + seasonal decomposition
+ MAPE-based accuracy scoring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0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Inventory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0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0235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EOQ formula with safety stock &amp; reorder
point calculation per SKU/warehouse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19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OTIF Measurement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19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34071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Order-level On-Time In-Full flagging,
aggregated by region, channel &amp; mode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92640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3836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Scorecard Design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92640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6579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Weighted KPI scoring (OTIF 35%, Fill 30%,
Damage 20%, TAT 15%) + A–D grading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Forecasting &amp; Seasonal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SKU-level demand patterns | Seasonal peaks | MAPE accuracy | 2023–2024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Forecast Accuracy by SKU (Avg MAPE)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SKU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536192"/>
            <a:ext cx="128016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4679" y="155448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Avg MAPE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536192"/>
            <a:ext cx="11887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5544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288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874519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IPA_330ml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18288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79" y="1874519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8288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87451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18288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187451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86000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331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Lager_500ml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2286000"/>
            <a:ext cx="12801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79" y="23317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4.7%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228600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22860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7432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788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Light_Beer_330ml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0" y="27432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54679" y="27889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27432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2788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27432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2788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200400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2461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Premium_Lager_330ml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3200400"/>
            <a:ext cx="12801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54679" y="32461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0" y="320040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484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0" y="32004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484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6576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7033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Stout_650ml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08960" y="36576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4679" y="37033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3.4%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89120" y="36576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4840" y="3703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36576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4840" y="3703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114800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1605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Strong_Beer_500ml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08960" y="4114800"/>
            <a:ext cx="12801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54679" y="41605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4.8%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120" y="411480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4840" y="4160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41148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4840" y="4160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5720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4617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Wheat_330ml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08960" y="45720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54679" y="46177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3.4%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120" y="45720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34840" y="4617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0" y="45720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34840" y="4617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12344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Seasonal Demand Insights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1554480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09360" y="1554480"/>
            <a:ext cx="164592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37960" y="16459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Peak Season (Oct–Dec, Mar–Apr)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37960" y="193852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E75B6"/>
                </a:solidFill>
                <a:latin typeface="Calibri"/>
              </a:rPr>
              <a:t>+30 to +70%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7960" y="230428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above baseline demand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2761488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09360" y="2761488"/>
            <a:ext cx="164592" cy="10789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285292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Trough Season (Jul–Aug)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37960" y="314553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-15 to -40%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60" y="351129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below baseline demand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09360" y="3968496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09360" y="3968496"/>
            <a:ext cx="164592" cy="107899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37960" y="4059935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Year-on-Year Growth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37960" y="435254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75623"/>
                </a:solidFill>
                <a:latin typeface="Calibri"/>
              </a:rPr>
              <a:t>+3%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471830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CAGR across all SKUs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60" y="5175504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309360" y="5175504"/>
            <a:ext cx="164592" cy="107899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37960" y="5266944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Top SKU by Volume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7960" y="555955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Lager 500ml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7960" y="592531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highest demand SKU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Inventory Optimization — EOQ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Economic Order Quantity | Safety Stock | Reorder Points | Stockout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5486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5486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EOQ  =  SQRT ( 2 x Annual Demand x Ordering Cost  /  Holding Cost per Unit 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3566160" cy="8229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High Stockout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12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 SKU-Warehouse Combos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87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Immediate replenishment needed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20240"/>
            <a:ext cx="3566160" cy="82296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9476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Medium Stockout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212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Calibri"/>
              </a:rPr>
              <a:t>3 SKU-Warehouse Combos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87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262626"/>
                </a:solidFill>
                <a:latin typeface="Calibri"/>
              </a:rPr>
              <a:t>Monitor &amp; plan reorder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0" y="1920240"/>
            <a:ext cx="3566160" cy="82296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476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Low Stockout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212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 SKU-Warehouse Combos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487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Stock levels adequate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8803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Key EOQ Insights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82112"/>
            <a:ext cx="11430000" cy="2468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4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EOQ analysis reveals significant over-ordering for Stout 650ml — avg 45% above optimal batch size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Safety stock levels in East India warehouses are 30% below recommended — highest stockout risk zone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Lager 500ml and Strong Beer 500ml show ideal reorder patterns — can be used as benchmark SKUs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Holding costs account for 18–22% of unit price — reducing excess inventory directly boosts margins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Recommended: Implement vendor-managed inventory (VMI) for top 3 high-risk SKU-warehouse combos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Logistics Performance &amp; Lead Time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Shipment mode efficiency | Regional lead times | Freight cost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Performance by Shipment Mode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22860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554480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536192"/>
            <a:ext cx="6858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88336" y="1554480"/>
            <a:ext cx="612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36192"/>
            <a:ext cx="64008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1554480"/>
            <a:ext cx="566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Avg 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536192"/>
            <a:ext cx="64008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14215" y="1554480"/>
            <a:ext cx="566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OTIF%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1536192"/>
            <a:ext cx="14173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4296" y="1554480"/>
            <a:ext cx="1344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Avg Freight (INR)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47088"/>
            <a:ext cx="22860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1892807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Air Freight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1847088"/>
            <a:ext cx="6858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8336" y="1892807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18470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1892807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2.0d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18470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14215" y="1892807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85.7%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1847088"/>
            <a:ext cx="14173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54296" y="1892807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304288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2350008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Road (Mini-Truck)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51760" y="2304288"/>
            <a:ext cx="6858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88336" y="2350008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528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23042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4136" y="23500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2.8d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39" y="23042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14215" y="23500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82.8%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17720" y="2304288"/>
            <a:ext cx="14173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54296" y="2350008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761488"/>
            <a:ext cx="22860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2336" y="2807208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Road (Truck)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2761488"/>
            <a:ext cx="6858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88336" y="2807208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1062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37560" y="27614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74136" y="28072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3.8d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27614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14215" y="28072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84.7%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17720" y="2761488"/>
            <a:ext cx="14173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54296" y="2807208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533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218688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2336" y="3264408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Rail Freight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51760" y="3218688"/>
            <a:ext cx="6858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88336" y="3264408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312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37560" y="32186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74136" y="32644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5.9d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7639" y="32186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14215" y="32644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79.2%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17720" y="3218688"/>
            <a:ext cx="14173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54296" y="3264408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0" y="12344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Avg Lead Time by Region (Days)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1536192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63640" y="162763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0" y="1627632"/>
            <a:ext cx="384048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612880" y="1645919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5.1d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2194560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63640" y="2286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2286000"/>
            <a:ext cx="3071521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12880" y="230428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4.1d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2852928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29443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South India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0" y="2944368"/>
            <a:ext cx="3020836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12880" y="296265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4.0d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0" y="3511296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36027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86800" y="3602736"/>
            <a:ext cx="2290323" cy="34747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022843" y="3621024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3.0d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17920" y="4169663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63640" y="426110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86800" y="4261103"/>
            <a:ext cx="2264118" cy="34747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96638" y="427939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3.0d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5760" y="47548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Key Logistics Insights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047488"/>
            <a:ext cx="11612880" cy="1600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120640"/>
            <a:ext cx="11430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Air Freight has 1-day lead time but costs 3x more than Road — use only for urgent/high-value orders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East India has highest avg lead time (5–7 days) — Kolkata hub consolidation recommended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Road (Truck) handles 55% of shipments — route optimization could cut freight cost by 12–18%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Rail Freight underutilized at 15% — expanding to bulk Lager SKUs could save INR 15–20L/yr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OTIF Analysis — On-Time In-Full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Regional OTIF | Channel Performance | Root Cause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3291840" cy="23317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Overall OTIF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C000"/>
                </a:solidFill>
                <a:latin typeface="Calibri"/>
              </a:rPr>
              <a:t>83.4%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C000"/>
                </a:solidFill>
                <a:latin typeface="Calibri"/>
              </a:rPr>
              <a:t>Target: 90%+  |  ACCEPTABLE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D6E4F0"/>
                </a:solidFill>
                <a:latin typeface="Calibri"/>
              </a:rPr>
              <a:t>Gap to industry benchmark: 6.6%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Baseline Indian FMCG Beverage Avg: ~78-85%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234440"/>
            <a:ext cx="7680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OTIF Rate by Region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1554480"/>
            <a:ext cx="219456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600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554480"/>
            <a:ext cx="3717584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2664" y="16002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84.7%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956816"/>
            <a:ext cx="219456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002536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956816"/>
            <a:ext cx="3669304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24384" y="20025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83.6%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2359152"/>
            <a:ext cx="219456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2404872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South India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359152"/>
            <a:ext cx="3664915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9995" y="24048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83.5%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2761488"/>
            <a:ext cx="219456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9080" y="280720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761488"/>
            <a:ext cx="3621023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76104" y="28072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82.5%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3163824"/>
            <a:ext cx="219456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320954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163824"/>
            <a:ext cx="3621023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6104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82.5%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84048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OTIF by Distribution Channel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206240"/>
            <a:ext cx="2514600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427939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E-Commerce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4590288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82.2%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4206240"/>
            <a:ext cx="2514600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82112" y="427939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General Trade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2112" y="4590288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83.2%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257800"/>
            <a:ext cx="2514600" cy="8686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533095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Modern Trade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5641848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85.7%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08960" y="5257800"/>
            <a:ext cx="2514600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82112" y="533095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On-Premise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82112" y="5641848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82.6%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384048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Root Causes of OTIF Failures (% of Non-Compliant Orders)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4206240"/>
            <a:ext cx="246888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760" y="4251959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62626"/>
                </a:solidFill>
                <a:latin typeface="Calibri"/>
              </a:rPr>
              <a:t>Supplier Component Delays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206240"/>
            <a:ext cx="2080260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21340" y="4251959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35%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4608576"/>
            <a:ext cx="246888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80760" y="4654296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62626"/>
                </a:solidFill>
                <a:latin typeface="Calibri"/>
              </a:rPr>
              <a:t>Transit / Highway Congestion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95360" y="4608576"/>
            <a:ext cx="1664207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05288" y="4654296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28%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0" y="5010912"/>
            <a:ext cx="246888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80760" y="5056631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62626"/>
                </a:solidFill>
                <a:latin typeface="Calibri"/>
              </a:rPr>
              <a:t>Demand Forecast Error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95360" y="5010912"/>
            <a:ext cx="1069848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10928" y="5056631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18%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5413248"/>
            <a:ext cx="246888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80760" y="5458968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62626"/>
                </a:solidFill>
                <a:latin typeface="Calibri"/>
              </a:rPr>
              <a:t>Warehouse Processing Lag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95360" y="5413248"/>
            <a:ext cx="713232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54311" y="5458968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12%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5815583"/>
            <a:ext cx="246888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80760" y="5861303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62626"/>
                </a:solidFill>
                <a:latin typeface="Calibri"/>
              </a:rPr>
              <a:t>Regulatory &amp; Excise Permits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95360" y="5815583"/>
            <a:ext cx="416051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7132" y="5861303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7%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Distributor Performance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Weighted KPI scoring | Grade A–D | Top &amp; Bottom performers identified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651760" cy="91440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34440"/>
            <a:ext cx="2651760" cy="9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234440"/>
            <a:ext cx="2651760" cy="9144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234440"/>
            <a:ext cx="265176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30428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Scoring Methodology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OTIF %  —  Weight: 35%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Primary KPI — On-Time In-Full delivery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Fill Rate %  —  Weight: 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% of ordered quantity actually delivered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71616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4768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Damage Rate  —  Weight: 20%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71616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4768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% of goods damaged in transit (lower = better)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97696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Avg TAT  —  Weight: 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4544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97696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Turnaround time from order to delivery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3429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5623"/>
                </a:solidFill>
                <a:latin typeface="Calibri"/>
              </a:rPr>
              <a:t>Top 5 Performers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30752"/>
            <a:ext cx="13716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2336" y="3749039"/>
            <a:ext cx="1298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7360" y="3730752"/>
            <a:ext cx="16459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73936" y="3749039"/>
            <a:ext cx="1572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3730752"/>
            <a:ext cx="82296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19856" y="3749039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OTIF%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3730752"/>
            <a:ext cx="77724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42816" y="3749039"/>
            <a:ext cx="704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83480" y="3730752"/>
            <a:ext cx="7315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0056" y="3749039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0416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2336" y="4096511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DIST-NOR-04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7360" y="40416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73936" y="4096511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83280" y="40416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19856" y="4096511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94.1%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6240" y="40416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42816" y="4096511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84.9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83480" y="40416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6" y="4096511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4988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2336" y="45537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DIST-WES-01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37360" y="44988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73936" y="45537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83280" y="44988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19856" y="45537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78.1%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06240" y="44988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42816" y="45537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84.1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83480" y="44988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0056" y="45537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49560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02336" y="50109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DIST-CEN-02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7360" y="49560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773936" y="50109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383280" y="49560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19856" y="50109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91.9%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6240" y="49560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42816" y="50109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84.1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83480" y="49560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0056" y="50109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54132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2336" y="54681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DIST-SOU-04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37360" y="54132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773936" y="54681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83280" y="54132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19856" y="54681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83.5%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6240" y="54132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242816" y="54681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83.6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83480" y="54132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20056" y="54681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65760" y="58704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02336" y="59253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DIST-NOR-01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737360" y="58704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773936" y="59253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383280" y="58704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19856" y="59253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79.1%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06240" y="58704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42816" y="59253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82.7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983480" y="58704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0056" y="59253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0" y="3429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Bottom 5 — Needs Improvement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00800" y="3730752"/>
            <a:ext cx="13716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37376" y="3749039"/>
            <a:ext cx="1298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772400" y="3730752"/>
            <a:ext cx="16459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808975" y="3749039"/>
            <a:ext cx="1572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418320" y="3730752"/>
            <a:ext cx="82296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454896" y="3749039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OTIF%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241280" y="3730752"/>
            <a:ext cx="77724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277856" y="3749039"/>
            <a:ext cx="704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018520" y="3730752"/>
            <a:ext cx="7315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1055096" y="3749039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00800" y="40416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37376" y="4096511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DIST-WES-03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72400" y="40416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808975" y="4096511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418320" y="40416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454896" y="4096511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66.4%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241280" y="40416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77856" y="4096511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74.2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018520" y="40416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055096" y="4096511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0" y="44988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37376" y="45537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DIST-EAS-03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72400" y="44988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808975" y="45537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418320" y="44988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454896" y="45537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81.5%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241280" y="44988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277856" y="45537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75.7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1018520" y="44988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1055096" y="45537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00800" y="49560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37376" y="50109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DIST-WES-04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772400" y="49560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808975" y="50109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418320" y="49560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454896" y="50109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76.6%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241280" y="49560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277856" y="50109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76.2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018520" y="49560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1055096" y="50109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00800" y="54132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37376" y="54681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DIST-WES-02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772400" y="54132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808975" y="54681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418320" y="54132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454896" y="54681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70.7%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241280" y="54132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277856" y="54681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76.9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1018520" y="54132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055096" y="54681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400800" y="58704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37376" y="59253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DIST-NOR-03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772400" y="58704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808975" y="59253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418320" y="58704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454896" y="59253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72.7%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41280" y="58704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77856" y="59253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77.5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1018520" y="58704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1055096" y="59253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Critical insights from the supply chain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5720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234440"/>
            <a:ext cx="1097280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30759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Seasonal Demand Mismatch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Demand spikes 30–70% in Oct–Dec but inventory levels don't scale proportionally, causing stockouts during peak festive season — the highest revenue period.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13432"/>
            <a:ext cx="457200" cy="9601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5694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313432"/>
            <a:ext cx="10972800" cy="9601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3865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East India Lead Time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9748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East India has the highest avg lead time (5–7 days) vs. the 2–3 day benchmark in North/West India. Poor logistics infrastructure is eroding ~22% revenue opportunity.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92424"/>
            <a:ext cx="45720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4845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392424"/>
            <a:ext cx="1097280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6557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Distributor Performance Disparity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776472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40% of distributors fall in Grade C or D. The bottom quartile has OTIF rates below 72% — directly causing customer dissatisfaction and repeat order losses.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71416"/>
            <a:ext cx="457200" cy="9601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7274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471416"/>
            <a:ext cx="10972800" cy="9601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4456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Sub-optimal Ordering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55464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Stout 650ml is consistently over-ordered (45% above EOQ). Excess inventory ties up working capital and increases holding costs by an estimated INR 8–12L annually.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50408"/>
            <a:ext cx="457200" cy="96012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06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550408"/>
            <a:ext cx="1097280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6235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Freight Cost Optimization Opportunity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93445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Rail freight (15% usage) is significantly cheaper than road for bulk orders. Increasing rail share to 25% could reduce freight costs by 12–18% annually.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3 high-impact actions to transform supply chain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7101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RECOMMENDATION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2710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C000"/>
                </a:solidFill>
                <a:latin typeface="Calibri"/>
              </a:rPr>
              <a:t>Est. Impact: INR 15–20L / yr savings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81912"/>
            <a:ext cx="11430000" cy="3200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12471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Implement Dynamic Safety Stock &amp; Seasonal Inventory Buffers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01952"/>
            <a:ext cx="11430000" cy="1005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4767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Pre-build 25–30% extra inventory for festive SKUs by September each year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Use MAPE-adjusted safety stock calculation for SKUs with high demand variability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Pilot vendor-managed inventory (VMI) with top 3 suppliers for Lager &amp; Strong Beer SKUs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2E75B6"/>
                </a:solidFill>
                <a:latin typeface="Calibri"/>
              </a:rPr>
              <a:t>•  Expected Impact: Reduce stockout frequency by 40% | Improve OTIF by 8–10%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44952"/>
            <a:ext cx="1143000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81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RECOMMENDATION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815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C000"/>
                </a:solidFill>
                <a:latin typeface="Calibri"/>
              </a:rPr>
              <a:t>Est. Impact: INR 25–35L / yr savings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92424"/>
            <a:ext cx="11430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112471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East India Logistics Hub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12464"/>
            <a:ext cx="1143000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58184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Establish a dedicated consolidation hub in Kolkata to reduce last-mile fragmentation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Negotiate long-term rail freight contracts for bulk distribution to East India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Implement GPS-based real-time shipment tracking for all East India routes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1F3864"/>
                </a:solidFill>
                <a:latin typeface="Calibri"/>
              </a:rPr>
              <a:t>•  Expected Impact: Cut avg lead time from 6.2 to 3.5 days | Save 15% freight 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55464"/>
            <a:ext cx="11430000" cy="34747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RECOMMENDATION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8920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C000"/>
                </a:solidFill>
                <a:latin typeface="Calibri"/>
              </a:rPr>
              <a:t>Est. Impact: INR 30–40L / yr revenue recovery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02936"/>
            <a:ext cx="11430000" cy="3200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21224"/>
            <a:ext cx="112471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Distributor Performance Improvement Program (DPIP)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522976"/>
            <a:ext cx="11430000" cy="1005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568696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Launch quarterly business reviews (QBRs) with all Grade C &amp; D distributors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Introduce tiered incentive scheme: Grade A gets priority allocation &amp; better margins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Provide digital order management tools to bottom-quartile distributors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375623"/>
                </a:solidFill>
                <a:latin typeface="Calibri"/>
              </a:rPr>
              <a:t>•  Expected Impact: Lift avg OTIF from 76% to 88% | Grade D distributors drop by 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90-day action plan to begin supply chain transformation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1
(Days 1–30)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C000"/>
                </a:solidFill>
                <a:latin typeface="Calibri"/>
              </a:rPr>
              <a:t>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86000"/>
            <a:ext cx="365760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2377440"/>
            <a:ext cx="34381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Audit all distributor contracts for OTIF clauses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Flag top 5 high-risk SKU-warehouse combos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Begin weekly OTIF reporting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34440"/>
            <a:ext cx="3657600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2618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2
(Days 31–60)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C000"/>
                </a:solidFill>
                <a:latin typeface="Calibri"/>
              </a:rPr>
              <a:t>Foundation Building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2286000"/>
            <a:ext cx="3657600" cy="2743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2377440"/>
            <a:ext cx="34381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Rollout EOQ-based reorder system for top 3 SKUs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Launch DPIP for Grade C &amp; D distributors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Start Kolkata hub feasibility study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234440"/>
            <a:ext cx="3657600" cy="100584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2618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3
(Days 61–90)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C000"/>
                </a:solidFill>
                <a:latin typeface="Calibri"/>
              </a:rPr>
              <a:t>Scale &amp; Sustain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286000"/>
            <a:ext cx="365760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2377440"/>
            <a:ext cx="34381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Implement dynamic safety stock model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Pilot rail freight contracts for East India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Launch incentive scheme for Grade A distributors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07070"/>
                </a:solidFill>
                <a:latin typeface="Calibri"/>
              </a:rPr>
              <a:t>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07070"/>
                </a:solidFill>
                <a:latin typeface="Calibri"/>
              </a:rPr>
              <a:t>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66360"/>
            <a:ext cx="11430000" cy="7315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Expected Outcome by Day 90: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230368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+10–12% OTIF improvement  |  -15% lead time in East India  |  25% reduction in Grade D distributors  |  INR 40–60L cost savings identified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Tools &amp; Methodology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Analytical framework and tools powering this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930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Microsoft Excel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3657600" cy="1627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Primary analytical tool — Pivot Tables, VLOOKUP, IF/IFS, conditional formatting, EOQ formula, data validation, charts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34440"/>
            <a:ext cx="36576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8930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Python (pandas)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657600" cy="16276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7373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Data generation &amp; preprocessing — synthetic dataset creation, statistical modelling, demand simulation, seasonal factors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234440"/>
            <a:ext cx="365760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28930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PowerPoint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645920"/>
            <a:ext cx="3657600" cy="1627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7373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Executive storytelling — data-driven narrative, KPI visualization, stakeholder-ready strategy deck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3657600" cy="41148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43814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EOQ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94760"/>
            <a:ext cx="3657600" cy="16276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8862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Economic Order Quantity — classic inventory optimization model with safety stock and reorder point calculation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3383280"/>
            <a:ext cx="3657600" cy="411480"/>
          </a:xfrm>
          <a:prstGeom prst="rect">
            <a:avLst/>
          </a:prstGeom>
          <a:solidFill>
            <a:srgbClr val="843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343814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MAPE Metric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794760"/>
            <a:ext cx="3657600" cy="1627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38862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Mean Absolute Percentage Error — standard forecasting accuracy metric used across FMCG and beverage industries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383280"/>
            <a:ext cx="365760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43814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Weighted Scoring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794760"/>
            <a:ext cx="3657600" cy="16276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8862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Distributor KPI scoring with business-defined weights — industry-standard approach for vendor performance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0"/>
            <a:ext cx="117317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C000"/>
                </a:solidFill>
                <a:latin typeface="Calibri"/>
              </a:rPr>
              <a:t>BeerFlow — Beverage Supply Chain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Harsh Raj Pandey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735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Supply Chain Analyst | Open to Opportunities in Beverage &amp; FMCG Sector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49039"/>
            <a:ext cx="1005840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GitHub: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9319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github.com/Harsh258-collab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074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LinkedIn: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40740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linkedin.com/in/harsh-raj-pandey-1a0319325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Email: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88289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harsh258.collab@gmail.com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4F0"/>
                </a:solidFill>
                <a:latin typeface="Calibri"/>
              </a:rPr>
              <a:t>"Good supply chains don't just move products — they build trust."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