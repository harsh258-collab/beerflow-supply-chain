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0"/>
            <a:ext cx="117317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BEERFLOW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C000"/>
                </a:solidFill>
                <a:latin typeface="Calibri"/>
              </a:rPr>
              <a:t>Beverage Supply Chain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0"/>
                </a:solidFill>
                <a:latin typeface="Calibri"/>
              </a:rPr>
              <a:t>A Strategic Analysis of Logistics, Demand Forecasting, Inventory Management,
and Distributor Performance in the Beverage Industry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03320"/>
            <a:ext cx="10515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Harsh Raj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24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Supply Chain Analyst | Aspiring FMCG &amp; Beverage Industry 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988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September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73736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239512"/>
            <a:ext cx="170078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Supply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5212080"/>
            <a:ext cx="173736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5239512"/>
            <a:ext cx="170078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Logistics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212080"/>
            <a:ext cx="173736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5239512"/>
            <a:ext cx="170078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FMCG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5212080"/>
            <a:ext cx="173736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5239512"/>
            <a:ext cx="170078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5212080"/>
            <a:ext cx="173736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5239512"/>
            <a:ext cx="170078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What this deck covers — end-to-end supply chain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930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34440"/>
            <a:ext cx="1088136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527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Problem Statement &amp; Industry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Understanding the supply chain challenges in beverage FMCG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901952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Dataset Overview &amp;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57984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2,000 orders | 5 Regions | 7 SKUs | Jan 2023 – Dec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69464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243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569464"/>
            <a:ext cx="1088136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87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Demand Forecasting &amp; Seasonal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25496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SKU-level demand patterns, seasonal peaks, MAPE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36976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236976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55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Inventory Optimization (EOQ Model)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93008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Economic Order Quantity, Safety Stock, Reorder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04487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59351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904487"/>
            <a:ext cx="1088136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92277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Logistics Performance &amp; Lead Time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16052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Shipment mode efficiency, lead time benchmarking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72000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268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572000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590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OTIF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8280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On-Time In-Full rate by region, channel, and distributor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39512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2943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239512"/>
            <a:ext cx="1088136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257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Distributor Scorecard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495544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KPI-based ranking: OTIF, Fill Rate, Damage, TAT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07023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96188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907023"/>
            <a:ext cx="10881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92531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Key Findings &amp; Strategic 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163055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7070"/>
                </a:solidFill>
                <a:latin typeface="Calibri"/>
              </a:rPr>
              <a:t>3 high-impact actions to improve supply chain 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Why supply chain optimization matters in beverage FMCG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The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66928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Beverage companies face significant demand variability due to seasonality (festive peaks, summer surges, monsoon troughs)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Multi-tier distribution networks create visibility gaps — products sit idle in warehouses while stockouts occur at retail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OTIF failures (late or incomplete deliveries) directly reduce revenue and damage distributor relationships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Poor demand forecasting leads to overproduction, waste, and high holding costs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Last-mile delivery inefficiency accounts for 30–40% of total logistics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Industry Benchmarks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394960" cy="7132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636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~30%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184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Calibri"/>
              </a:rPr>
              <a:t>of FMCG losses due to supply chain inefficiencies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313432"/>
            <a:ext cx="539496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682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85–95%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Calibri"/>
              </a:rPr>
              <a:t>is the target OTIF rate for top beverage companies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118104"/>
            <a:ext cx="5394960" cy="7132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1729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15–20%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278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Calibri"/>
              </a:rPr>
              <a:t>cost reduction possible through EOQ-based inventory planning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22776"/>
            <a:ext cx="539496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3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2–3x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325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Calibri"/>
              </a:rPr>
              <a:t>ROI from distributor performance management programs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  <a:latin typeface="Calibri"/>
              </a:rPr>
              <a:t>Project Objective: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9204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Analyze beverage supply chain data to identify demand patterns, optimize inventory levels, measure logistics performance (OTIF), and build a distributor scorecard — delivering actionable recommendations to reduce cost and improve service levels.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Dataset Overview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Data scope, structure, and analytical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651760" cy="1645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Orders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000"/>
                </a:solidFill>
                <a:latin typeface="Calibri"/>
              </a:rPr>
              <a:t>2,000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6E4F0"/>
                </a:solidFill>
                <a:latin typeface="Calibri"/>
              </a:rPr>
              <a:t>5 regions | 7 SKUs | 4 channels
OTIF, Lead Time, Revenue, Margin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34440"/>
            <a:ext cx="2651760" cy="1645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Inventory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000"/>
                </a:solidFill>
                <a:latin typeface="Calibri"/>
              </a:rPr>
              <a:t>35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3852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6E4F0"/>
                </a:solidFill>
                <a:latin typeface="Calibri"/>
              </a:rPr>
              <a:t>5 warehouses | 7 SKUs
EOQ, Safety Stock, Reorder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2651760" cy="1645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Distributor 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000"/>
                </a:solidFill>
                <a:latin typeface="Calibri"/>
              </a:rPr>
              <a:t>20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6E4F0"/>
                </a:solidFill>
                <a:latin typeface="Calibri"/>
              </a:rPr>
              <a:t>OTIF, Fill Rate, Damage, TAT
Composite scoring &amp; grading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34440"/>
            <a:ext cx="2651760" cy="1645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Demand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627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000"/>
                </a:solidFill>
                <a:latin typeface="Calibri"/>
              </a:rPr>
              <a:t>168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93852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6E4F0"/>
                </a:solidFill>
                <a:latin typeface="Calibri"/>
              </a:rPr>
              <a:t>24 months (2023–2024)
Seasonal factors &amp; MAPE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063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Analytical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83280"/>
            <a:ext cx="2194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401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219456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703320"/>
            <a:ext cx="2048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62626"/>
                </a:solidFill>
                <a:latin typeface="Calibri"/>
              </a:rPr>
              <a:t>Synthetic data modelled on real beverage
industry scale &amp; patterns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79" y="3383280"/>
            <a:ext cx="2194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199" y="3401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Demand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79" y="3657600"/>
            <a:ext cx="219456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3703320"/>
            <a:ext cx="2048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62626"/>
                </a:solidFill>
                <a:latin typeface="Calibri"/>
              </a:rPr>
              <a:t>Moving average + seasonal decomposition
+ MAPE-based accuracy scoring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3383280"/>
            <a:ext cx="2194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401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Inventory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657600"/>
            <a:ext cx="219456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3703320"/>
            <a:ext cx="2048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62626"/>
                </a:solidFill>
                <a:latin typeface="Calibri"/>
              </a:rPr>
              <a:t>EOQ formula with safety stock &amp; reorder
point calculation per SKU/warehouse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19" y="3383280"/>
            <a:ext cx="2194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401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OTIF Measurement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19" y="3657600"/>
            <a:ext cx="219456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4071" y="3703320"/>
            <a:ext cx="2048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62626"/>
                </a:solidFill>
                <a:latin typeface="Calibri"/>
              </a:rPr>
              <a:t>Order-level On-Time In-Full flagging,
aggregated by region, channel &amp; 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383280"/>
            <a:ext cx="2194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3401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Scorecard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3657600"/>
            <a:ext cx="219456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92" y="3703320"/>
            <a:ext cx="2048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62626"/>
                </a:solidFill>
                <a:latin typeface="Calibri"/>
              </a:rPr>
              <a:t>Weighted KPI scoring (OTIF 35%, Fill 30%,
Damage 20%, TAT 15%) + A–D grading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Demand Forecasting &amp; Seasonal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SKU-level demand patterns | Seasonal peaks | MAPE accuracy | 2023–2024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Forecast Accuracy by SKU (Avg MAPE)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27432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SKU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536192"/>
            <a:ext cx="128016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79" y="15544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Avg MAPE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36192"/>
            <a:ext cx="11887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7432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IPA_330ml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828800"/>
            <a:ext cx="12801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79" y="1874519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4.2%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11887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8288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86000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31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Lager_500ml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286000"/>
            <a:ext cx="12801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79" y="233172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3.4%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286000"/>
            <a:ext cx="11887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2860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43200"/>
            <a:ext cx="27432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788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Light_Beer_330ml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743200"/>
            <a:ext cx="12801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79" y="278892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2.9%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743200"/>
            <a:ext cx="11887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27432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00400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Premium_Lager_330ml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3200400"/>
            <a:ext cx="12801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79" y="324612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4.8%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200400"/>
            <a:ext cx="11887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32004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657600"/>
            <a:ext cx="27432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Stout_650ml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3657600"/>
            <a:ext cx="12801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79" y="370332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4.1%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657600"/>
            <a:ext cx="11887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6576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114800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160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Strong_Beer_500ml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08960" y="4114800"/>
            <a:ext cx="12801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54679" y="416052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3.4%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114800"/>
            <a:ext cx="11887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1148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572000"/>
            <a:ext cx="27432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617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Wheat_330ml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08960" y="4572000"/>
            <a:ext cx="12801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54679" y="461772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  <a:latin typeface="Calibri"/>
              </a:rPr>
              <a:t>3.6%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4572000"/>
            <a:ext cx="11887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4572000"/>
            <a:ext cx="11887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3484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1234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Seasonal Demand Insights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1554480"/>
            <a:ext cx="5486400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09360" y="1554480"/>
            <a:ext cx="164592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16459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Peak Season (Oct–Dec, Mar–Apr)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19385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  <a:latin typeface="Calibri"/>
              </a:rPr>
              <a:t>+30 to +70%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2304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7070"/>
                </a:solidFill>
                <a:latin typeface="Calibri"/>
              </a:rPr>
              <a:t>above baseline demand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2761488"/>
            <a:ext cx="5486400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09360" y="2761488"/>
            <a:ext cx="164592" cy="10789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28529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Trough Season (Jul–Aug)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7960" y="31455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-15 to -40%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35112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7070"/>
                </a:solidFill>
                <a:latin typeface="Calibri"/>
              </a:rPr>
              <a:t>below baseline demand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60" y="3968496"/>
            <a:ext cx="5486400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09360" y="3968496"/>
            <a:ext cx="164592" cy="107899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37960" y="4059935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Year-on-Year Growth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43525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75623"/>
                </a:solidFill>
                <a:latin typeface="Calibri"/>
              </a:rPr>
              <a:t>+3%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7960" y="47183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7070"/>
                </a:solidFill>
                <a:latin typeface="Calibri"/>
              </a:rPr>
              <a:t>CAGR across all SKUs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5175504"/>
            <a:ext cx="5486400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09360" y="5175504"/>
            <a:ext cx="16459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37960" y="526694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Top SKU by Volume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37960" y="55595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Lager 500ml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37960" y="59253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7070"/>
                </a:solidFill>
                <a:latin typeface="Calibri"/>
              </a:rPr>
              <a:t>highest demand SKU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Inventory Optimization — EOQ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Economic Order Quantity | Safety Stock | Reorder Points | Stockout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486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EOQ  =  SQRT ( 2 x Annual Demand x Ordering Cost  /  Holding Cost per Unit 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56616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 Stockout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SKU-Warehouse Combos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Immediate replenishment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920240"/>
            <a:ext cx="3566160" cy="8229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947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Medium Stockout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12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Calibri"/>
              </a:rPr>
              <a:t>3 SKU-Warehouse Combos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87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62626"/>
                </a:solidFill>
                <a:latin typeface="Calibri"/>
              </a:rPr>
              <a:t>Monitor &amp; plan reorder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920240"/>
            <a:ext cx="3566160" cy="82296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947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 Stockout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212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 SKU-Warehouse Combos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487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Stock levels adequate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880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Key EOQ Insights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82112"/>
            <a:ext cx="114300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55264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  •  EOQ analysis reveals significant over-ordering for Stout 650ml — avg 45% above optimal batch size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  •  Safety stock levels in East India warehouses are 30% below recommended — highest stockout risk zone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  •  Lager 500ml and Strong Beer 500ml show ideal reorder patterns — can be used as benchmark SKUs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  •  Holding costs account for 18–22% of unit price — reducing excess inventory directly boosts margins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  •  Recommended: Implement vendor-managed inventory (VMI) for top 3 high-risk SKU-warehouse combos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Logistics Performance &amp; Lead 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Shipment mode efficiency | Regional lead times | Freight cost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Performance by Shipment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237744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554480"/>
            <a:ext cx="2304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536192"/>
            <a:ext cx="73152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55448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64008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55448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Avg 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36192"/>
            <a:ext cx="64008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155448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OTIF%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536192"/>
            <a:ext cx="118872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1554480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Avg Freight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237744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1883664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Air Freight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828800"/>
            <a:ext cx="73152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776" y="1883664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102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828800"/>
            <a:ext cx="64008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188366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2.4d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828800"/>
            <a:ext cx="64008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1376" y="188366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56.9%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828800"/>
            <a:ext cx="118872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188366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INR 571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04288"/>
            <a:ext cx="237744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2359152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Road (Mini-Truck)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304288"/>
            <a:ext cx="73152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9776" y="235915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483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304288"/>
            <a:ext cx="64008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2359152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3.3d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304288"/>
            <a:ext cx="64008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51376" y="2359152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29.0%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304288"/>
            <a:ext cx="118872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2359152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INR 547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779776"/>
            <a:ext cx="237744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" y="283464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Road (Truck)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779776"/>
            <a:ext cx="73152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283464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1118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779776"/>
            <a:ext cx="64008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1296" y="283464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4.3d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2779776"/>
            <a:ext cx="64008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51376" y="283464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779776"/>
            <a:ext cx="1188720" cy="4297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91456" y="283464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INR 533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255264"/>
            <a:ext cx="237744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3310128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Rail Freight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255264"/>
            <a:ext cx="73152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79776" y="331012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297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3255264"/>
            <a:ext cx="64008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1296" y="331012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6.3d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3255264"/>
            <a:ext cx="64008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51376" y="331012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0.0%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3255264"/>
            <a:ext cx="1188720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91456" y="331012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INR 529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1234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Average Lead Time by Region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1536192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East India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1627632"/>
            <a:ext cx="320040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567160" y="1645919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5.4d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2194560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2286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South India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2286000"/>
            <a:ext cx="2615159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81919" y="23042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4.4d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2852928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2944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Central India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2944368"/>
            <a:ext cx="2573786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40546" y="29626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4.4d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3511296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36027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West India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3602736"/>
            <a:ext cx="208828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55040" y="362102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3.5d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4169663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5080" y="426110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North India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4261103"/>
            <a:ext cx="205053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17290" y="427939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3.5d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4023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Key Logistics Insights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315968"/>
            <a:ext cx="1143000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Air Freight has 1-day lead time but costs 3x more than Road — recommended only for urgent/high-value orders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East India consistently shows highest lead times (5–7 days) — hub consolidation recommended in Kolkata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Road (Truck) handles 55% of shipments — optimizing truck routing could cut freight cost by 12–18%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62626"/>
                </a:solidFill>
                <a:latin typeface="Calibri"/>
              </a:rPr>
              <a:t>  •  Rail Freight underutilized at 15% — expanding rail for bulk lager SKUs could save INR 15–20L annually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OTIF Analysis — On-Time In-Full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Regional OTIF | Channel Performance | Root Cause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00400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Overall OTIF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C000"/>
                </a:solidFill>
                <a:latin typeface="Calibri"/>
              </a:rPr>
              <a:t>14.9%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Target: 90%+  |  NEEDS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D6E4F0"/>
                </a:solidFill>
                <a:latin typeface="Calibri"/>
              </a:rPr>
              <a:t>Gap of 75.1% to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3444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OTIF Rate by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536192"/>
            <a:ext cx="256032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27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East India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27632"/>
            <a:ext cx="137891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851" y="1645919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2.6%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94560"/>
            <a:ext cx="256032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286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Central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286000"/>
            <a:ext cx="381853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9813" y="23042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7.2%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852928"/>
            <a:ext cx="256032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2944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South India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944368"/>
            <a:ext cx="450799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8759" y="29626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8.5%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511296"/>
            <a:ext cx="256032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3602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West India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602736"/>
            <a:ext cx="134179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9750" y="362102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25.3%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169663"/>
            <a:ext cx="256032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426110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North India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261103"/>
            <a:ext cx="1638787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6747" y="427939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30.9%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4290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OTIF by Channel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30752"/>
            <a:ext cx="265176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767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E-Commerce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965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16.2%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730752"/>
            <a:ext cx="265176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3767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General Trade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0965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730752"/>
            <a:ext cx="265176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767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Modern Trade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0965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730752"/>
            <a:ext cx="265176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3767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On-Premise (Bar/Restaurant)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0965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12.7%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42900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Root Causes of OTIF Failures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730752"/>
            <a:ext cx="36576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803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Supplier Delays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3803904"/>
            <a:ext cx="1120139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8039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35%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261104"/>
            <a:ext cx="36576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43342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Transportation Issues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4334256"/>
            <a:ext cx="896112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43342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28%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791456"/>
            <a:ext cx="36576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4864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Demand Forecast Error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4864608"/>
            <a:ext cx="576072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8646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18%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21808"/>
            <a:ext cx="36576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80760" y="5394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Warehouse Processing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5394960"/>
            <a:ext cx="384048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5394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12%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5852160"/>
            <a:ext cx="36576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60" y="5925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Documentation/Compliance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5925312"/>
            <a:ext cx="224028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59253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Distributor Performance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Weighted KPI scoring | Grade A–D | Top &amp; Bottom performers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651760" cy="9144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Distributors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26517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933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Distributors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34440"/>
            <a:ext cx="265176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933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Distributors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234440"/>
            <a:ext cx="265176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9933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Distributors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30428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Scoring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06040"/>
            <a:ext cx="27432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62432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OTIF %  —  Weight: 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98648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926080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62626"/>
                </a:solidFill>
                <a:latin typeface="Calibri"/>
              </a:rPr>
              <a:t>Primary KPI — On-Time In-Full delivery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2606040"/>
            <a:ext cx="27432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62432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Fill Rate %  —  Weight: 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18688" y="2898648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2926080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62626"/>
                </a:solidFill>
                <a:latin typeface="Calibri"/>
              </a:rPr>
              <a:t>% of ordered quantity actually delivered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2606040"/>
            <a:ext cx="27432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262432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Damage Rate  —  Weight: 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71616" y="2898648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2926080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62626"/>
                </a:solidFill>
                <a:latin typeface="Calibri"/>
              </a:rPr>
              <a:t>% of goods damaged in transit (lower = better)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24544" y="2606040"/>
            <a:ext cx="27432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7696" y="262432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Avg TAT  —  Weight: 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24544" y="2898648"/>
            <a:ext cx="2743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7696" y="2926080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62626"/>
                </a:solidFill>
                <a:latin typeface="Calibri"/>
              </a:rPr>
              <a:t>Turnaround time from order to 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429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Top 5 Performers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30752"/>
            <a:ext cx="13716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374903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3730752"/>
            <a:ext cx="164592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3936" y="3749039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3730752"/>
            <a:ext cx="82296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9856" y="3749039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OTIF%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730752"/>
            <a:ext cx="77724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42816" y="3749039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80" y="3730752"/>
            <a:ext cx="73152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0056" y="3749039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041648"/>
            <a:ext cx="13716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" y="4096511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DIST-EAS-01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7360" y="4041648"/>
            <a:ext cx="16459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73936" y="4096511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North India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4041648"/>
            <a:ext cx="8229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9856" y="4096511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89.0%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4041648"/>
            <a:ext cx="77724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2816" y="4096511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90.1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4041648"/>
            <a:ext cx="7315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0056" y="4096511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498848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6" y="45537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DIST-EAS-03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4498848"/>
            <a:ext cx="16459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73936" y="45537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West India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4498848"/>
            <a:ext cx="8229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19856" y="45537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95.0%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4498848"/>
            <a:ext cx="77724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42816" y="45537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89.9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4498848"/>
            <a:ext cx="7315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0056" y="45537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956048"/>
            <a:ext cx="13716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2336" y="50109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DIST-CEN-03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7360" y="4956048"/>
            <a:ext cx="16459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73936" y="50109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West India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4956048"/>
            <a:ext cx="8229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19856" y="50109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93.0%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4956048"/>
            <a:ext cx="77724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42816" y="50109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87.3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83480" y="4956048"/>
            <a:ext cx="7315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0056" y="50109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413248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2336" y="54681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DIST-WES-03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37360" y="5413248"/>
            <a:ext cx="16459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73936" y="54681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Central India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83280" y="5413248"/>
            <a:ext cx="8229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19856" y="54681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94.8%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06240" y="5413248"/>
            <a:ext cx="77724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42816" y="54681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85.8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83480" y="5413248"/>
            <a:ext cx="7315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0056" y="54681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870448"/>
            <a:ext cx="13716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2336" y="59253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DIST-NOR-02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37360" y="5870448"/>
            <a:ext cx="16459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73936" y="59253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Central India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83280" y="5870448"/>
            <a:ext cx="8229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19856" y="59253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88.0%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06240" y="5870448"/>
            <a:ext cx="77724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42816" y="59253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85.5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983480" y="5870448"/>
            <a:ext cx="73152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0056" y="59253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0" y="3429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Bottom 5 — Needs Improvement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3730752"/>
            <a:ext cx="13716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37376" y="374903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72400" y="3730752"/>
            <a:ext cx="164592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08975" y="3749039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418320" y="3730752"/>
            <a:ext cx="82296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54896" y="3749039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OTIF%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241280" y="3730752"/>
            <a:ext cx="77724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77856" y="3749039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018520" y="3730752"/>
            <a:ext cx="73152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055096" y="3749039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4041648"/>
            <a:ext cx="13716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37376" y="4096511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DIST-NOR-03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72400" y="4041648"/>
            <a:ext cx="16459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808975" y="4096511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West India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418320" y="4041648"/>
            <a:ext cx="8229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454896" y="4096511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62.9%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41280" y="4041648"/>
            <a:ext cx="77724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77856" y="4096511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68.6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018520" y="4041648"/>
            <a:ext cx="73152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055096" y="4096511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4498848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37376" y="45537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DIST-SOU-03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72400" y="4498848"/>
            <a:ext cx="16459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808975" y="45537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Central India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418320" y="4498848"/>
            <a:ext cx="8229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454896" y="45537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62.7%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241280" y="4498848"/>
            <a:ext cx="77724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277856" y="45537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72.4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018520" y="4498848"/>
            <a:ext cx="731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055096" y="45537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00800" y="4956048"/>
            <a:ext cx="13716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37376" y="50109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DIST-EAS-04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772400" y="4956048"/>
            <a:ext cx="16459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08975" y="50109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East India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418320" y="4956048"/>
            <a:ext cx="8229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454896" y="50109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70.2%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241280" y="4956048"/>
            <a:ext cx="77724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277856" y="50109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72.4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018520" y="4956048"/>
            <a:ext cx="731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055096" y="50109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00800" y="5413248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37376" y="54681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DIST-CEN-01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72400" y="5413248"/>
            <a:ext cx="164592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808975" y="54681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North India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418320" y="5413248"/>
            <a:ext cx="8229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454896" y="54681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76.6%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241280" y="5413248"/>
            <a:ext cx="77724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277856" y="54681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74.4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018520" y="5413248"/>
            <a:ext cx="731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055096" y="54681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0" y="5870448"/>
            <a:ext cx="137160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37376" y="5925312"/>
            <a:ext cx="12984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DIST-CEN-04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772400" y="5870448"/>
            <a:ext cx="164592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808975" y="5925312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South India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418320" y="5870448"/>
            <a:ext cx="82296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54896" y="5925312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75.4%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241280" y="5870448"/>
            <a:ext cx="777240" cy="411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277856" y="5925312"/>
            <a:ext cx="704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62626"/>
                </a:solidFill>
                <a:latin typeface="Calibri"/>
              </a:rPr>
              <a:t>74.8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018520" y="5870448"/>
            <a:ext cx="731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055096" y="592531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Critical insights from the supply chain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234440"/>
            <a:ext cx="1097280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075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Seasonal Demand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62626"/>
                </a:solidFill>
                <a:latin typeface="Calibri"/>
              </a:rPr>
              <a:t>Demand spikes 30–70% in Oct–Dec but inventory levels don't scale proportionally, causing stockouts during peak festive season — the highest revenue period.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457200" cy="9601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13432"/>
            <a:ext cx="10972800" cy="9601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865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East India Lead Time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9748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62626"/>
                </a:solidFill>
                <a:latin typeface="Calibri"/>
              </a:rPr>
              <a:t>East India has the highest avg lead time (5–7 days) vs. the 2–3 day benchmark in North/West India. Poor logistics infrastructure is eroding ~22% revenue opportunity.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92424"/>
            <a:ext cx="45720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484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392424"/>
            <a:ext cx="1097280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655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Distributor Performance Disparity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7647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62626"/>
                </a:solidFill>
                <a:latin typeface="Calibri"/>
              </a:rPr>
              <a:t>40% of distributors fall in Grade C or D. The bottom quartile has OTIF rates below 72% — directly causing customer dissatisfaction and repeat order losses.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71416"/>
            <a:ext cx="457200" cy="9601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727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471416"/>
            <a:ext cx="10972800" cy="9601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445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Sub-optimal Ordering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55464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62626"/>
                </a:solidFill>
                <a:latin typeface="Calibri"/>
              </a:rPr>
              <a:t>Stout 650ml is consistently over-ordered (45% above EOQ). Excess inventory ties up working capital and increases holding costs by an estimated INR 8–12L annually.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50408"/>
            <a:ext cx="457200" cy="9601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06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550408"/>
            <a:ext cx="1097280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623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Freight Cost Optimization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93445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62626"/>
                </a:solidFill>
                <a:latin typeface="Calibri"/>
              </a:rPr>
              <a:t>Rail freight (15% usage) is significantly cheaper than road for bulk orders. Increasing rail share to 25% could reduce freight costs by 12–18% annually.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3 high-impact actions to transform supply chain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710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RECOMMENDATION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2710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  <a:latin typeface="Calibri"/>
              </a:rPr>
              <a:t>Est. Impact: INR 15–20L / yr savings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81912"/>
            <a:ext cx="11430000" cy="320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Implement Dynamic Safety Stock &amp; Seasonal Inventory Buffers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114300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Pre-build 25–30% extra inventory for festive SKUs by September each year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Use MAPE-adjusted safety stock calculation for SKUs with high demand variability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Pilot vendor-managed inventory (VMI) with top 3 suppliers for Lager &amp; Strong Beer SKUs</a:t>
            </a:r>
          </a:p>
          <a:p>
            <a:pPr>
              <a:spcBef>
                <a:spcPts val="200"/>
              </a:spcBef>
            </a:pPr>
            <a:r>
              <a:rPr sz="900" b="1">
                <a:solidFill>
                  <a:srgbClr val="2E75B6"/>
                </a:solidFill>
                <a:latin typeface="Calibri"/>
              </a:rPr>
              <a:t>•  Expected Impact: Reduce stockout frequency by 40% | Improve OTIF by 8–10%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44952"/>
            <a:ext cx="114300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RECOMMENDATION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  <a:latin typeface="Calibri"/>
              </a:rPr>
              <a:t>Est. Impact: INR 25–35L / yr savings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92424"/>
            <a:ext cx="114300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10712"/>
            <a:ext cx="11247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East India Logistics Hub Upgrade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12464"/>
            <a:ext cx="1143000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5818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Establish a dedicated consolidation hub in Kolkata to reduce last-mile fragmentation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Negotiate long-term rail freight contracts for bulk distribution to East India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Implement GPS-based real-time shipment tracking for all East India routes</a:t>
            </a:r>
          </a:p>
          <a:p>
            <a:pPr>
              <a:spcBef>
                <a:spcPts val="200"/>
              </a:spcBef>
            </a:pPr>
            <a:r>
              <a:rPr sz="900" b="1">
                <a:solidFill>
                  <a:srgbClr val="1F3864"/>
                </a:solidFill>
                <a:latin typeface="Calibri"/>
              </a:rPr>
              <a:t>•  Expected Impact: Cut avg lead time from 6.2 to 3.5 days | Save 15% freight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55464"/>
            <a:ext cx="1143000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RECOMMENDATION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892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000"/>
                </a:solidFill>
                <a:latin typeface="Calibri"/>
              </a:rPr>
              <a:t>Est. Impact: INR 30–40L / yr revenue 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02936"/>
            <a:ext cx="11430000" cy="320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21224"/>
            <a:ext cx="11247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Distributor Performance Improvement Program (DPIP)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22976"/>
            <a:ext cx="114300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68696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Launch quarterly business reviews (QBRs) with all Grade C &amp; D distributors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Introduce tiered incentive scheme: Grade A gets priority allocation &amp; better margins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262626"/>
                </a:solidFill>
                <a:latin typeface="Calibri"/>
              </a:rPr>
              <a:t>•  Provide digital order management tools to bottom-quartile distributors</a:t>
            </a:r>
          </a:p>
          <a:p>
            <a:pPr>
              <a:spcBef>
                <a:spcPts val="200"/>
              </a:spcBef>
            </a:pPr>
            <a:r>
              <a:rPr sz="900" b="1">
                <a:solidFill>
                  <a:srgbClr val="375623"/>
                </a:solidFill>
                <a:latin typeface="Calibri"/>
              </a:rPr>
              <a:t>•  Expected Impact: Lift avg OTIF from 76% to 88% | Grade D distributors drop by 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90-day action plan to begin supply chain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
(Days 1–30)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Quick Wins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36576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377440"/>
            <a:ext cx="3438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Audit all distributor contracts for OTIF clauses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Flag top 5 high-risk SKU-warehouse combos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Begin weekly OTIF reporting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34440"/>
            <a:ext cx="36576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
(Days 31–60)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Foundation Building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286000"/>
            <a:ext cx="3657600" cy="2743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377440"/>
            <a:ext cx="3438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Rollout EOQ-based reorder system for top 3 SKUs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Launch DPIP for Grade C &amp; D distributors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Start Kolkata hub feasibility study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657600" cy="10058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
(Days 61–90)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Scale &amp; Sustain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6576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377440"/>
            <a:ext cx="3438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Implement dynamic safety stock model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Pilot rail freight contracts for East India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262626"/>
                </a:solidFill>
                <a:latin typeface="Calibri"/>
              </a:rPr>
              <a:t>•  Launch incentive scheme for Grade A distributors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  <a:latin typeface="Calibri"/>
              </a:rPr>
              <a:t>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  <a:latin typeface="Calibri"/>
              </a:rPr>
              <a:t>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1143000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30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  <a:latin typeface="Calibri"/>
              </a:rPr>
              <a:t>Expected Outcome by Day 90: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30368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+10–12% OTIF improvement  |  -15% lead time in East India  |  25% reduction in Grade D distributors  |  INR 40–60L cost savings identified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Tools &amp; Methodology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Analytical framework and tools powering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930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Microsoft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Primary analytical tool — Pivot Tables, VLOOKUP, IF/IFS, conditional formatting, EOQ formula, data validation, 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6576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8930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Python (pandas)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57600" cy="16276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Data generation &amp; preprocessing — synthetic dataset creation, statistical modelling, demand simulation, seasonal factors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3657600" cy="4114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930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PowerPoint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65760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Executive storytelling — data-driven narrative, KPI visualization, stakeholder-ready strategy deck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3657600" cy="411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381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EOQ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16276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862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Economic Order Quantity — classic inventory optimization model with safety stock and reorder point calculation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383280"/>
            <a:ext cx="3657600" cy="411480"/>
          </a:xfrm>
          <a:prstGeom prst="rect">
            <a:avLst/>
          </a:prstGeom>
          <a:solidFill>
            <a:srgbClr val="843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4381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MAPE Metric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794760"/>
            <a:ext cx="365760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862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Mean Absolute Percentage Error — standard forecasting accuracy metric used across FMCG and beverage industries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383280"/>
            <a:ext cx="36576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4381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Weighted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94760"/>
            <a:ext cx="3657600" cy="16276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8862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Distributor KPI scoring with business-defined weights — industry-standard approach for vendor performance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17317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C000"/>
                </a:solidFill>
                <a:latin typeface="Calibri"/>
              </a:rPr>
              <a:t>BeerFlow — Beverage Supply Chain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Harsh Raj Pandey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0"/>
                </a:solidFill>
                <a:latin typeface="Calibri"/>
              </a:rPr>
              <a:t>Supply Chain Analyst | Open to Opportunities in Beverage &amp; FMCG Sector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100584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  <a:latin typeface="Calibri"/>
              </a:rPr>
              <a:t>GitHub: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931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github.com/Harsh258-collab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07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  <a:latin typeface="Calibri"/>
              </a:rPr>
              <a:t>LinkedIn: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4074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linkedin.com/in/harsh-raj-pandey-1a0319325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82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  <a:latin typeface="Calibri"/>
              </a:rPr>
              <a:t>Email: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8828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harsh258.collab@gmail.com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4F0"/>
                </a:solidFill>
                <a:latin typeface="Calibri"/>
              </a:rPr>
              <a:t>"Good supply chains don't just move products — they build trust."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BeerFlow - Beverage Supply Chain Optimization</dc:title>
  <dc:subject>Supply Chain Analytics | FMCG | Beverage Industry</dc:subject>
  <dc:creator>Harsh Raj Pandey</dc:creator>
  <cp:keywords>Supply Chain, Logistics, OTIF, EOQ, Beverage, FMCG</cp:keywords>
  <dc:description>Personal project by Harsh Raj Pandey - Supply Chain &amp; Logistics Analytics</dc:description>
  <cp:lastModifiedBy>Harsh Raj Pandey</cp:lastModifiedBy>
  <cp:revision>1</cp:revision>
  <dcterms:created xsi:type="dcterms:W3CDTF">2026-09-10T09:00:00Z</dcterms:created>
  <dcterms:modified xsi:type="dcterms:W3CDTF">2026-09-19T20:30:00Z</dcterms:modified>
  <cp:category/>
</cp:coreProperties>
</file>