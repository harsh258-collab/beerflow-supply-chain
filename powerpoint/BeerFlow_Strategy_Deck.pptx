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0"/>
            <a:ext cx="11731752" cy="731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BEERFLOW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31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C000"/>
                </a:solidFill>
                <a:latin typeface="Calibri"/>
              </a:rPr>
              <a:t>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D6E4F0"/>
                </a:solidFill>
                <a:latin typeface="Calibri"/>
              </a:rPr>
              <a:t>A Strategic Analysis of Logistics, Demand Forecasting, Inventory Management,
and Distributor Performance in the Beverage Industry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703320"/>
            <a:ext cx="105156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24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Aspiring FMCG &amp; Beverage Industry Professional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988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September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Supply 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5176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Logistics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028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FMCG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 Analytics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5212080"/>
            <a:ext cx="1737360" cy="3200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30768" y="5239512"/>
            <a:ext cx="1700784" cy="265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What this deck covers — end-to-end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930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34440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25272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Problem Statement &amp; Industry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49047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Understanding the supply chain challenges in beverage FMCG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5681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1901952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192024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5798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2,000 orders | 5 Regions | 7 SKUs | Jan 2023 – Dec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69464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624328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569464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5877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825496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SKU-level demand patterns, seasonal peaks, MAPE accuracy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236976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291840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36976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5526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Inventory Optimization (EOQ Model)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493008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Economic Order Quantity, Safety Stock, Reorder Points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904487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959351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3904487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392277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4160520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Shipment mode efficiency, lead time benchmarking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626864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572000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0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On-Time In-Full rate by region, channel, and distributor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239512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5294376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5239512"/>
            <a:ext cx="10881360" cy="5029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2578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Scorecard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495544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KPI-based ranking: OTIF, Fill Rate, Damage, TAT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5907023"/>
            <a:ext cx="502920" cy="502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5961887"/>
            <a:ext cx="502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" y="5907023"/>
            <a:ext cx="10881360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92531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Findings &amp; Strategic Recommendations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63055"/>
            <a:ext cx="10424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07070"/>
                </a:solidFill>
                <a:latin typeface="Calibri"/>
              </a:rPr>
              <a:t>3 high-impact actions to improve supply chain efficiency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Why supply chain optimization matters in beverage FMCG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The Challenge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3200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81912"/>
            <a:ext cx="54864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Beverage companies face significant demand variability due to seasonality (festive peaks, summer surges, monsoon troughs)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Multi-tier distribution networks create visibility gaps — products sit idle in warehouses while stockouts occur at retail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OTIF failures (late or incomplete deliveries) directly reduce revenue and damage distributor relationships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Poor demand forecasting leads to overproduction, waste, and high holding costs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Last-mile delivery inefficiency accounts for 30–40% of total logistics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234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Industry Benchmarks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508760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6362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~30%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618488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of FMCG losses due to supply chain inefficiencies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313432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236829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85–95%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42316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is the target OTIF rate for top beverage companies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3118104"/>
            <a:ext cx="5394960" cy="7132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17296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15–20%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227832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cost reduction possible through EOQ-based inventory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3922776"/>
            <a:ext cx="5394960" cy="7132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97763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2–3x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4032504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262626"/>
                </a:solidFill>
                <a:latin typeface="Calibri"/>
              </a:rPr>
              <a:t>ROI from distributor performance management programs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846320"/>
            <a:ext cx="11430000" cy="7772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91947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Project Objective: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892040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Analyze beverage supply chain data to identify demand patterns, optimize inventory levels, measure logistics performance (OTIF), and build a distributor scorecard — delivering actionable recommendations to reduce cost and improve service levels.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Dataset Overview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Data scope, structure, and analytical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Orders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2,000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regions | 7 SKUs | 4 channels
OTIF, Lead Time, Revenue,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Inventory Dataset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35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5 warehouses | 7 SKUs
EOQ, Safety Stock, Reorder Points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Distributor Scorecard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20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OTIF, Fill Rate, Damage, TAT
Composite scoring &amp; grading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234440"/>
            <a:ext cx="2651760" cy="16459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9828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16276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C000"/>
                </a:solidFill>
                <a:latin typeface="Calibri"/>
              </a:rPr>
              <a:t>168 records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1938528"/>
            <a:ext cx="2468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6E4F0"/>
                </a:solidFill>
                <a:latin typeface="Calibri"/>
              </a:rPr>
              <a:t>24 months (2023–2024)
Seasonal factors &amp; MAPE accuracy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063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F3864"/>
                </a:solidFill>
                <a:latin typeface="Calibri"/>
              </a:rPr>
              <a:t>Analytical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 Generation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Synthetic data modelled on real beverage
industry scale &amp; patterns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9747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199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Demand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7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7063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Moving average + seasonal decomposition
+ MAPE-based accuracy scoring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Inventory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0235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EOQ formula with safety stock &amp; reorder
point calculation per SKU/warehouse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Measurement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60919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34071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Order-level On-Time In-Full flagging,
aggregated by region, channel &amp; mode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692640" y="3383280"/>
            <a:ext cx="2194560" cy="2743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38360" y="340156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Scorecard Design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92640" y="3657600"/>
            <a:ext cx="2194560" cy="11887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92" y="3703320"/>
            <a:ext cx="2048256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Weighted KPI scoring (OTIF 35%, Fill 30%,
Damage 20%, TAT 15%) + A–D grading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Forecasting &amp; Seasonal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SKU-level demand patterns | Seasonal peaks | MAPE accuracy | 2023–2024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Forecast Accuracy by SKU (Avg MAPE)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554480"/>
            <a:ext cx="2651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SKU</a:t>
            </a:r>
          </a:p>
        </p:txBody>
      </p:sp>
      <p:sp>
        <p:nvSpPr>
          <p:cNvPr id="8" name="Rectangle 7"/>
          <p:cNvSpPr/>
          <p:nvPr/>
        </p:nvSpPr>
        <p:spPr>
          <a:xfrm>
            <a:off x="3108960" y="1536192"/>
            <a:ext cx="128016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54679" y="1554480"/>
            <a:ext cx="1188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MAPE 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536192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5544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Accuracy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8288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874519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IPA_330ml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18288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79" y="1874519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1828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87451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860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331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Lager_500ml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0" y="22860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79" y="2331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286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331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7432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" y="2788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Light_Beer_330ml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0" y="27432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54679" y="27889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0" y="27432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2788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2004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2461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Premium_Lager_330ml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08960" y="32004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79" y="32461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32004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36576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7033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Stout_650ml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08960" y="36576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154679" y="37033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36576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4840" y="37033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4160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Strong_Beer_500ml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108960" y="4114800"/>
            <a:ext cx="12801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54679" y="41605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4.8%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120" y="41148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4840" y="41605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5760" y="4572000"/>
            <a:ext cx="27432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4617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Wheat_330ml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08960" y="4572000"/>
            <a:ext cx="12801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54679" y="4617720"/>
            <a:ext cx="11887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62626"/>
                </a:solidFill>
                <a:latin typeface="Calibri"/>
              </a:rPr>
              <a:t>3.4%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89120" y="4572000"/>
            <a:ext cx="118872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434840" y="46177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Excellent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Seasonal Demand Insights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1554480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309360" y="1554480"/>
            <a:ext cx="164592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37960" y="164592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Peak Season (Oct–Dec, Mar–Apr)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60" y="193852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E75B6"/>
                </a:solidFill>
                <a:latin typeface="Calibri"/>
              </a:rPr>
              <a:t>+30 to +70%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37960" y="230428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above baseline demand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2761488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309360" y="2761488"/>
            <a:ext cx="164592" cy="107899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285292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Trough Season (Jul–Aug)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7960" y="314553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00000"/>
                </a:solidFill>
                <a:latin typeface="Calibri"/>
              </a:rPr>
              <a:t>-15 to -40%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60" y="351129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below baseline demand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9360" y="3968496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9360" y="3968496"/>
            <a:ext cx="164592" cy="107899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37960" y="4059935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Year-on-Year Growth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3525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375623"/>
                </a:solidFill>
                <a:latin typeface="Calibri"/>
              </a:rPr>
              <a:t>+3%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471830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CAGR across all SKUs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09360" y="5175504"/>
            <a:ext cx="5486400" cy="10789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309360" y="5175504"/>
            <a:ext cx="164592" cy="107899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537960" y="5266944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Top SKU by Volume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37960" y="55595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3864"/>
                </a:solidFill>
                <a:latin typeface="Calibri"/>
              </a:rPr>
              <a:t>Lager 500ml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537960" y="592531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707070"/>
                </a:solidFill>
                <a:latin typeface="Calibri"/>
              </a:rPr>
              <a:t>highest demand SKU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Inventory Optimization — EOQ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Economic Order Quantity | Safety Stock | Reorder Points | Stockout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34440"/>
            <a:ext cx="11430000" cy="5486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EOQ  =  SQRT ( 2 x Annual Demand x Ordering Cost  /  Holding Cost per Unit 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20240"/>
            <a:ext cx="3566160" cy="82296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 Stockout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 SKU-Warehouse Combos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Immediate replenishment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20240"/>
            <a:ext cx="3566160" cy="82296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62626"/>
                </a:solidFill>
                <a:latin typeface="Calibri"/>
              </a:rPr>
              <a:t>Medium Stockout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Calibri"/>
              </a:rPr>
              <a:t>3 SKU-Warehouse Combos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262626"/>
                </a:solidFill>
                <a:latin typeface="Calibri"/>
              </a:rPr>
              <a:t>Monitor &amp; plan reorder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55280" y="1920240"/>
            <a:ext cx="3566160" cy="82296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94767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 Stockout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21284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 SKU-Warehouse Combos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48716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Stock levels adequate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803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Key EOQ Insights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82112"/>
            <a:ext cx="11430000" cy="2468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4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EOQ analysis reveals significant over-ordering for Stout 650ml — avg 45% above optimal batch size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Safety stock levels in East India warehouses are 30% below recommended — highest stockout risk zone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Lager 500ml and Strong Beer 500ml show ideal reorder patterns — can be used as benchmark SKUs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Holding costs account for 18–22% of unit price — reducing excess inventory directly boosts margins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  •  Recommended: Implement vendor-managed inventory (VMI) for top 3 high-risk SKU-warehouse combos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Logistics Performance &amp; Lead Time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Shipment mode efficiency | Regional lead times | Freight cost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Performance by Shipment Mode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22860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" y="1554480"/>
            <a:ext cx="22128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536192"/>
            <a:ext cx="6858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88336" y="1554480"/>
            <a:ext cx="6126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74136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1536192"/>
            <a:ext cx="6400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14215" y="1554480"/>
            <a:ext cx="5669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536192"/>
            <a:ext cx="14173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4296" y="1554480"/>
            <a:ext cx="1344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Avg Freight (INR)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470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" y="1892807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Air Freight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8470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88336" y="1892807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74136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2.0d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18470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14215" y="1892807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85.7%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17720" y="18470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54296" y="1892807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559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042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6" y="23500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(Mini-Truck)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51760" y="23042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688336" y="23500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528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37560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2.8d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77639" y="23042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14215" y="23500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82.8%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23042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54296" y="23500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761488"/>
            <a:ext cx="22860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2336" y="28072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Road (Truck)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51760" y="2761488"/>
            <a:ext cx="6858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688336" y="28072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1062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37560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74136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3.8d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77639" y="2761488"/>
            <a:ext cx="64008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14215" y="28072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617720" y="2761488"/>
            <a:ext cx="14173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54296" y="28072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533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218688"/>
            <a:ext cx="22860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" y="3264408"/>
            <a:ext cx="22128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Rail Freight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51760" y="3218688"/>
            <a:ext cx="685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88336" y="3264408"/>
            <a:ext cx="612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312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37560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74136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5.9d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77639" y="3218688"/>
            <a:ext cx="64008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14215" y="3264408"/>
            <a:ext cx="5669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79.2%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3218688"/>
            <a:ext cx="14173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54296" y="3264408"/>
            <a:ext cx="134416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INR 500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17920" y="123444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Avg Lead Time by Region (Days)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1536192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162763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86800" y="1627632"/>
            <a:ext cx="3840480" cy="34747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612880" y="1645919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5.1d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17920" y="2194560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63640" y="228600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2286000"/>
            <a:ext cx="3071521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612880" y="2304288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4.1d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2852928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29443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0" y="2944368"/>
            <a:ext cx="3020836" cy="3474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612880" y="2962656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4.0d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17920" y="3511296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63640" y="36027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3602736"/>
            <a:ext cx="2290323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22843" y="3621024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3.0d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17920" y="4169663"/>
            <a:ext cx="237744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63640" y="4261103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686800" y="4261103"/>
            <a:ext cx="2264118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996638" y="4279392"/>
            <a:ext cx="502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F3864"/>
                </a:solidFill>
                <a:latin typeface="Calibri"/>
              </a:rPr>
              <a:t>3.0d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65760" y="475488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Key Logistics Insights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047488"/>
            <a:ext cx="11612880" cy="1600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5120640"/>
            <a:ext cx="11430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Air Freight has 1-day lead time but costs 3x more than Road — use only for urgent/high-value orders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East India has highest avg lead time (5–7 days) — Kolkata hub consolidation recommended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Road (Truck) handles 55% of shipments — route optimization could cut freight cost by 12–18%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262626"/>
                </a:solidFill>
                <a:latin typeface="Calibri"/>
              </a:rPr>
              <a:t>  •  Rail Freight underutilized at 15% — expanding to bulk Lager SKUs could save INR 15–20L/yr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OTIF Analysis — On-Time In-Full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Regional OTIF | Channel Performance | Root Cause Breakdown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3291840" cy="23317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Overall OTIF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1089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C000"/>
                </a:solidFill>
                <a:latin typeface="Calibri"/>
              </a:rPr>
              <a:t>83.4%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C000"/>
                </a:solidFill>
                <a:latin typeface="Calibri"/>
              </a:rPr>
              <a:t>Target: 90%+  |  ACCEPTABLE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D6E4F0"/>
                </a:solidFill>
                <a:latin typeface="Calibri"/>
              </a:rPr>
              <a:t>Gap to industry benchmark: 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FFFFFF"/>
                </a:solidFill>
                <a:latin typeface="Calibri"/>
              </a:rPr>
              <a:t>Baseline Indian FMCG Beverage Avg: ~78-85%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1234440"/>
            <a:ext cx="7680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Rate by Region 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0" y="1554480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069080" y="1600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554480"/>
            <a:ext cx="3717584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2664" y="16002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84.7%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956816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9080" y="2002536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956816"/>
            <a:ext cx="3669304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24384" y="20025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83.6%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2359152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69080" y="240487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South India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359152"/>
            <a:ext cx="3664915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19995" y="24048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83.5%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23360" y="2761488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9080" y="280720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2761488"/>
            <a:ext cx="3621023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76104" y="28072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82.5%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360" y="3163824"/>
            <a:ext cx="219456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69080" y="320954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163824"/>
            <a:ext cx="3621023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6104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82.5%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OTIF by Distribution Channel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20624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427939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E-Commerce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459028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82.2%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08960" y="420624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82112" y="427939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General Trade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82112" y="459028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83.2%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257800"/>
            <a:ext cx="2514600" cy="8686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0352" y="533095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Modern Trade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" y="564184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85.7%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08960" y="5257800"/>
            <a:ext cx="2514600" cy="8686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82112" y="5330952"/>
            <a:ext cx="2331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182112" y="5641848"/>
            <a:ext cx="2331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82.6%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384048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Root Causes of OTIF Failures (% of Non-Compliant Orders)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4206240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4251959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Supplier Component Delays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95360" y="4206240"/>
            <a:ext cx="2080260" cy="329184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21340" y="4251959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35%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35040" y="4608576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4654296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Transit / Highway Congestion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95360" y="4608576"/>
            <a:ext cx="1664207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05288" y="4654296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28%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5010912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80760" y="5056631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Demand Forecast Error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95360" y="5010912"/>
            <a:ext cx="1069848" cy="329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10928" y="5056631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18%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5413248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60" y="5458968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Warehouse Processing Lag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95360" y="5413248"/>
            <a:ext cx="713232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54311" y="5458968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12%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35040" y="5815583"/>
            <a:ext cx="2468880" cy="32918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80760" y="5861303"/>
            <a:ext cx="23774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262626"/>
                </a:solidFill>
                <a:latin typeface="Calibri"/>
              </a:rPr>
              <a:t>Regulatory &amp; Excise Permits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95360" y="5815583"/>
            <a:ext cx="416051" cy="32918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7132" y="5861303"/>
            <a:ext cx="548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F3864"/>
                </a:solidFill>
                <a:latin typeface="Calibr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Distributor Performance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Weighted KPI scoring | Grade A–D | Top &amp; Bottom performers identified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2651760" cy="91440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234440"/>
            <a:ext cx="2651760" cy="9144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69680" y="1234440"/>
            <a:ext cx="2651760" cy="9144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0" y="1280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Grade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57276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993392"/>
            <a:ext cx="2468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FFFFFF"/>
                </a:solidFill>
                <a:latin typeface="Calibri"/>
              </a:rPr>
              <a:t>Distributors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30428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Scoring 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OTIF %  —  Weight: 35%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Primary KPI — On-Time In-Full delivery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Fill Rate %  —  Weight: 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ordered quantity actually delivered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71616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44768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Damage Rate  —  Weight: 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71616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44768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% of goods damaged in transit (lower = better)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2606040"/>
            <a:ext cx="27432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97696" y="26243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Avg TAT  —  Weight: 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24544" y="2898648"/>
            <a:ext cx="27432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97696" y="2926080"/>
            <a:ext cx="259689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62626"/>
                </a:solidFill>
                <a:latin typeface="Calibri"/>
              </a:rPr>
              <a:t>Turnaround time from order to delivery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75623"/>
                </a:solidFill>
                <a:latin typeface="Calibri"/>
              </a:rPr>
              <a:t>Top 5 Performers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736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773936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8328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1985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24281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8348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005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233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3736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73936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8328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41985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94.1%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0624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4281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83480" y="40416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0233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73736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773936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8328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1985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78.1%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0624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4281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83480" y="44988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005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233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DIST-CEN-02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736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773936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38328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1985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91.9%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20624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4281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84.1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983480" y="49560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005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0233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DIST-SOU-04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3736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773936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38328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1985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83.5%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20624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24281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83.6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83480" y="54132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02005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6576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233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DIST-NOR-01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73736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773936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38328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1985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79.1%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20624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24281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82.7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983480" y="58704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005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0" y="3429000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Bottom 5 — Needs Improvement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400800" y="3730752"/>
            <a:ext cx="13716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437376" y="3749039"/>
            <a:ext cx="1298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ID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772400" y="3730752"/>
            <a:ext cx="16459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808975" y="3749039"/>
            <a:ext cx="15727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Region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9418320" y="3730752"/>
            <a:ext cx="8229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454896" y="3749039"/>
            <a:ext cx="7498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OTIF%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241280" y="3730752"/>
            <a:ext cx="77724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277856" y="3749039"/>
            <a:ext cx="704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018520" y="3730752"/>
            <a:ext cx="73152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1055096" y="3749039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400800" y="40416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437376" y="4096511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DIST-WES-03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772400" y="40416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808975" y="4096511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9418320" y="40416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9454896" y="4096511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66.4%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0" y="40416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77856" y="4096511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74.2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1018520" y="40416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1055096" y="4096511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400800" y="44988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37376" y="45537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DIST-EAS-03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72400" y="44988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808975" y="45537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North India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418320" y="44988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454896" y="45537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81.5%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241280" y="44988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277856" y="45537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75.7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1018520" y="44988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1055096" y="45537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00800" y="49560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37376" y="50109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772400" y="49560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808975" y="50109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East India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418320" y="49560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454896" y="50109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76.6%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10241280" y="49560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277856" y="50109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11018520" y="49560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055096" y="50109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400800" y="5413248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37376" y="54681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DIST-WES-02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7772400" y="5413248"/>
            <a:ext cx="164592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808975" y="54681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Central India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418320" y="5413248"/>
            <a:ext cx="82296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454896" y="54681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70.7%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241280" y="5413248"/>
            <a:ext cx="77724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277856" y="54681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76.9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1018520" y="54132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1055096" y="54681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400800" y="5870448"/>
            <a:ext cx="137160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37376" y="5925312"/>
            <a:ext cx="129844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DIST-NOR-03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772400" y="5870448"/>
            <a:ext cx="164592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808975" y="5925312"/>
            <a:ext cx="15727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West India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418320" y="5870448"/>
            <a:ext cx="82296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454896" y="5925312"/>
            <a:ext cx="74980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72.7%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41280" y="5870448"/>
            <a:ext cx="777240" cy="41148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77856" y="5925312"/>
            <a:ext cx="70408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62626"/>
                </a:solidFill>
                <a:latin typeface="Calibri"/>
              </a:rPr>
              <a:t>77.5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1018520" y="5870448"/>
            <a:ext cx="73152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1055096" y="5925312"/>
            <a:ext cx="658368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Critical insights from the supply chain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234440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30759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Seasonal Demand Mismatch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Demand spikes 30–70% in Oct–Dec but inventory levels don't scale proportionally, causing stockouts during peak festive season — the highest revenue period.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56946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313432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386584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Lead Time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97480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East India has the highest avg lead time (5–7 days) vs. the 2–3 day benchmark in North/West India. Poor logistics infrastructure is eroding ~22% revenue opportunity.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45720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4845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392424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65576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Disparity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776472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40% of distributors fall in Grade C or D. The bottom quartile has OTIF rates below 72% — directly causing customer dissatisfaction and repeat order losses.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71416"/>
            <a:ext cx="457200" cy="9601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72744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4471416"/>
            <a:ext cx="10972800" cy="96012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544568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Sub-optimal Ordering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855464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Stout 650ml is consistently over-ordered (45% above EOQ). Excess inventory ties up working capital and increases holding costs by an estimated INR 8–12L annually.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550408"/>
            <a:ext cx="457200" cy="96012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06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5550408"/>
            <a:ext cx="10972800" cy="960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623560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Freight Cost Optimization Opportunity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93445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62626"/>
                </a:solidFill>
                <a:latin typeface="Calibri"/>
              </a:rPr>
              <a:t>Rail freight (15% usage) is significantly cheaper than road for bulk orders. Increasing rail share to 25% could reduce freight costs by 12–18% annually.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3 high-impact actions to transform supply chain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11430000" cy="34747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7101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271016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15–20L / yr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81912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Implement Dynamic Safety Stock &amp; Seasonal Inventory Buffers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01952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4767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Pre-build 25–30% extra inventory for festive SKUs by September each year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Use MAPE-adjusted safety stock calculation for SKUs with high demand variability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Pilot vendor-managed inventory (VMI) with top 3 suppliers for Lager &amp; Strong Beer SKUs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2E75B6"/>
                </a:solidFill>
                <a:latin typeface="Calibri"/>
              </a:rPr>
              <a:t>•  Expected Impact: Reduce stockout frequency by 40% | Improve OTIF by 8–10%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044952"/>
            <a:ext cx="11430000" cy="3474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08152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8152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25–35L / yr savings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11430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10712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East India Logistics Hub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12464"/>
            <a:ext cx="11430000" cy="10058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58184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Establish a dedicated consolidation hub in Kolkata to reduce last-mile fragmentation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Negotiate long-term rail freight contracts for bulk distribution to East India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Implement GPS-based real-time shipment tracking for all East India routes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1F3864"/>
                </a:solidFill>
                <a:latin typeface="Calibri"/>
              </a:rPr>
              <a:t>•  Expected Impact: Cut avg lead time from 6.2 to 3.5 days | Save 15% freight cost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55464"/>
            <a:ext cx="11430000" cy="347472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RECOMMENDATION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892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FC000"/>
                </a:solidFill>
                <a:latin typeface="Calibri"/>
              </a:rPr>
              <a:t>Est. Impact: INR 30–40L / yr revenue recovery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02936"/>
            <a:ext cx="11430000" cy="32004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21224"/>
            <a:ext cx="11247120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F3864"/>
                </a:solidFill>
                <a:latin typeface="Calibri"/>
              </a:rPr>
              <a:t>Distributor Performance Improvement Program (DPIP)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5522976"/>
            <a:ext cx="11430000" cy="10058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568696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Launch quarterly business reviews (QBRs) with all Grade C &amp; D distributors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Introduce tiered incentive scheme: Grade A gets priority allocation &amp; better margins</a:t>
            </a:r>
          </a:p>
          <a:p>
            <a:pPr>
              <a:spcBef>
                <a:spcPts val="200"/>
              </a:spcBef>
            </a:pPr>
            <a:r>
              <a:rPr sz="900" b="0">
                <a:solidFill>
                  <a:srgbClr val="262626"/>
                </a:solidFill>
                <a:latin typeface="Calibri"/>
              </a:rPr>
              <a:t>•  Provide digital order management tools to bottom-quartile distributors</a:t>
            </a:r>
          </a:p>
          <a:p>
            <a:pPr>
              <a:spcBef>
                <a:spcPts val="200"/>
              </a:spcBef>
            </a:pPr>
            <a:r>
              <a:rPr sz="900" b="1">
                <a:solidFill>
                  <a:srgbClr val="375623"/>
                </a:solidFill>
                <a:latin typeface="Calibri"/>
              </a:rPr>
              <a:t>•  Expected Impact: Lift avg OTIF from 76% to 88% | Grade D distributors drop by 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90-day action plan to begin supply chain transformation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10058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1
(Days 1–30)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Quick Wins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Audit all distributor contracts for OTIF clauses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Flag top 5 high-risk SKU-warehouse combos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Begin weekly OTIF reporting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234440"/>
            <a:ext cx="3657600" cy="10058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2
(Days 31–60)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Foundation Building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286000"/>
            <a:ext cx="3657600" cy="2743200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Rollout EOQ-based reorder system for top 3 SKUs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DPIP for Grade C &amp; D distributors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Start Kolkata hub feasibility study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657600" cy="100584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26187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Phase 3
(Days 61–90)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C000"/>
                </a:solidFill>
                <a:latin typeface="Calibri"/>
              </a:rPr>
              <a:t>Scale &amp; Sustain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286000"/>
            <a:ext cx="3657600" cy="2743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47888" y="2377440"/>
            <a:ext cx="3438144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Implement dynamic safety stock model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Pilot rail freight contracts for East India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262626"/>
                </a:solidFill>
                <a:latin typeface="Calibri"/>
              </a:rPr>
              <a:t>•  Launch incentive scheme for Grade A distributors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4688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707070"/>
                </a:solidFill>
                <a:latin typeface="Calibri"/>
              </a:rPr>
              <a:t>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66360"/>
            <a:ext cx="11430000" cy="7315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230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Expected Outcome by Day 90: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230368"/>
            <a:ext cx="8046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Calibri"/>
              </a:rPr>
              <a:t>+10–12% OTIF improvement  |  -15% lead time in East India  |  25% reduction in Grade D distributors  |  INR 40–60L cost savings identified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Tools &amp; Methodology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858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Analytical framework and tools powering this project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234440"/>
            <a:ext cx="3657600" cy="41148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Microsoft Excel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Primary analytical tool — Pivot Tables, VLOOKUP, IF/IFS, conditional formatting, EOQ formula, data validation, charts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4114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Python (pandas)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64592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Data generation &amp; preprocessing — synthetic dataset creation, statistical modelling, demand simulation, seasonal factors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0" y="1234440"/>
            <a:ext cx="3657600" cy="411480"/>
          </a:xfrm>
          <a:prstGeom prst="rect">
            <a:avLst/>
          </a:prstGeom>
          <a:solidFill>
            <a:srgbClr val="375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28930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PowerPoint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64592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73736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Executive storytelling — data-driven narrative, KPI visualization, stakeholder-ready strategy deck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383280"/>
            <a:ext cx="3657600" cy="41148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EOQ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Economic Order Quantity — classic inventory optimization model with safety stock and reorder point calculation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3383280"/>
            <a:ext cx="3657600" cy="411480"/>
          </a:xfrm>
          <a:prstGeom prst="rect">
            <a:avLst/>
          </a:prstGeom>
          <a:solidFill>
            <a:srgbClr val="843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MAPE Metric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3794760"/>
            <a:ext cx="3657600" cy="162763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Mean Absolute Percentage Error — standard forecasting accuracy metric used across FMCG and beverage industries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383280"/>
            <a:ext cx="3657600" cy="41148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438144"/>
            <a:ext cx="3474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Weighted Scoring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3794760"/>
            <a:ext cx="3657600" cy="1627632"/>
          </a:xfrm>
          <a:prstGeom prst="rect">
            <a:avLst/>
          </a:prstGeom>
          <a:solidFill>
            <a:srgbClr val="D6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88620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62626"/>
                </a:solidFill>
                <a:latin typeface="Calibri"/>
              </a:rPr>
              <a:t>Distributor KPI scoring with business-defined weights — industry-standard approach for vendor performance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2560320"/>
            <a:ext cx="11731752" cy="5486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FFC000"/>
                </a:solidFill>
                <a:latin typeface="Calibri"/>
              </a:rPr>
              <a:t>BeerFlow — Beverage Supply Chain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346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735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6E4F0"/>
                </a:solidFill>
                <a:latin typeface="Calibri"/>
              </a:rPr>
              <a:t>Supply Chain Analyst | Open to Opportunities in Beverage &amp; FMCG Sector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749039"/>
            <a:ext cx="1005840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GitHub: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93192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github.com/Harsh258-collab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074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LinkedIn: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4074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linkedin.com/in/harsh-raj-pandey-1a0319325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C000"/>
                </a:solidFill>
                <a:latin typeface="Calibri"/>
              </a:rPr>
              <a:t>Email: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882896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pandey.monti24@gmail.com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D6E4F0"/>
                </a:solidFill>
                <a:latin typeface="Calibri"/>
              </a:rPr>
              <a:t>"Good supply chains don't just move products — they build trust."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922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